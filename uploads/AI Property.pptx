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1"/>
  </p:notesMasterIdLst>
  <p:sldIdLst>
    <p:sldId id="2561" r:id="rId5"/>
    <p:sldId id="2565" r:id="rId6"/>
    <p:sldId id="2563" r:id="rId7"/>
    <p:sldId id="2568" r:id="rId8"/>
    <p:sldId id="2572" r:id="rId9"/>
    <p:sldId id="257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I Property Matchmaker: Intent-Driven Real Estate Decisions" id="{9EB45979-5D5B-4AD6-8CC9-E15832F3D7E0}">
          <p14:sldIdLst>
            <p14:sldId id="2561"/>
            <p14:sldId id="2565"/>
            <p14:sldId id="2563"/>
            <p14:sldId id="2568"/>
            <p14:sldId id="2572"/>
          </p14:sldIdLst>
        </p14:section>
        <p14:section name="Product and Growth Potential" id="{91AB79C4-29D7-4F46-92DE-6C3886A83830}">
          <p14:sldIdLst>
            <p14:sldId id="257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52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AF63AD-72FF-27A3-ECC5-BAA5C2860395}" v="341" dt="2026-03-30T13:06:14.078"/>
    <p1510:client id="{E864B672-99C5-B318-0063-BAB71EA70E67}" v="12" dt="2026-03-31T02:51:43.9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A8AB74-67E1-439D-ACBF-598AACFEEC43}" type="datetimeFigureOut">
              <a:t>10/12/26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5C4476-26C2-4DA8-987C-D892B1302580}" type="slidenum">
              <a:t>‹#›</a:t>
            </a:fld>
            <a:endParaRPr lang="en-US"/>
          </a:p>
        </p:txBody>
      </p:sp>
    </p:spTree>
    <p:extLst>
      <p:ext uri="{BB962C8B-B14F-4D97-AF65-F5344CB8AC3E}">
        <p14:creationId xmlns:p14="http://schemas.microsoft.com/office/powerpoint/2010/main" val="1456572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a:t>
            </a:r>
          </a:p>
        </p:txBody>
      </p:sp>
      <p:sp>
        <p:nvSpPr>
          <p:cNvPr id="4" name="Slide Number Placeholder 3"/>
          <p:cNvSpPr>
            <a:spLocks noGrp="1"/>
          </p:cNvSpPr>
          <p:nvPr>
            <p:ph type="sldNum" sz="quarter" idx="5"/>
          </p:nvPr>
        </p:nvSpPr>
        <p:spPr/>
        <p:txBody>
          <a:bodyPr/>
          <a:lstStyle/>
          <a:p>
            <a:fld id="{C2A0A22E-8D2F-45B5-8341-9CDA215B2370}" type="slidenum">
              <a:t>1</a:t>
            </a:fld>
            <a:endParaRPr lang="en-US"/>
          </a:p>
        </p:txBody>
      </p:sp>
    </p:spTree>
    <p:extLst>
      <p:ext uri="{BB962C8B-B14F-4D97-AF65-F5344CB8AC3E}">
        <p14:creationId xmlns:p14="http://schemas.microsoft.com/office/powerpoint/2010/main" val="2223069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Modern real estate platforms offer an abundance of filters, yet users still struggle to make confident property decisions. The fundamental problem is not a lack of data, but a lack of understanding of human intent. Current systems are designed to filter properties based on static attributes such as price, size, amenities, and location, but they completely ignore the emotional, strategic, and future-oriented objectives that drive real-world purchases. Buyers often think in terms of long-term versus short-term investment, resale potential, financial risk, sustainability, and lifestyle fit, none of which can be expressed clearly through existing filter mechanisms. As a result, users are forced to mentally evaluate hundreds of listings, compare trade-offs manually, and rely on incomplete advice from brokers or online reviews. This leads to decision fatigue, anxiety, and frequent regret after purchase. For example, two properties with the same price and size may differ drastically in future appreciation, rental stability, or livability, but traditional platforms treat them as equals. Additionally, different users interpret the same filters differently; a “good location” for an investor is not the same as a “good location” for a family or a retiree. The absence of intent-aware intelligence means platforms cannot personalize recommendations meaningfully. This gap is especially critical in high-stakes markets like real estate, where decisions involve large financial commitments and long-term consequences. Without guidance on risk, future growth, or purpose alignment, users are left navigating one of the most important decisions of their lives with tools designed for simple product searches. This mismatch between user intent and platform capability creates a clear opportunity for an AI-driven, purpose-aware solution. 
 Image source: Microsoft 365 content library</a:t>
            </a:r>
          </a:p>
        </p:txBody>
      </p:sp>
      <p:sp>
        <p:nvSpPr>
          <p:cNvPr id="4" name="Slide Number Placeholder 3"/>
          <p:cNvSpPr>
            <a:spLocks noGrp="1"/>
          </p:cNvSpPr>
          <p:nvPr>
            <p:ph type="sldNum" sz="quarter" idx="5"/>
          </p:nvPr>
        </p:nvSpPr>
        <p:spPr/>
        <p:txBody>
          <a:bodyPr/>
          <a:lstStyle/>
          <a:p>
            <a:fld id="{C2A0A22E-8D2F-45B5-8341-9CDA215B2370}" type="slidenum">
              <a:t>2</a:t>
            </a:fld>
            <a:endParaRPr lang="en-US"/>
          </a:p>
        </p:txBody>
      </p:sp>
    </p:spTree>
    <p:extLst>
      <p:ext uri="{BB962C8B-B14F-4D97-AF65-F5344CB8AC3E}">
        <p14:creationId xmlns:p14="http://schemas.microsoft.com/office/powerpoint/2010/main" val="446592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Property discovery today is dominated by mechanical filters such as price range, number of bedrooms, square footage, and location radius. While these parameters are useful, they fail to capture the deeper motivations behind why people actually buy property. Buyers are not simply searching for buildings; they are making long-term life and financial decisions shaped by emotion, risk tolerance, future plans, and personal values. The AI Property Matchmaker reframes property search from a transactional activity into an intent-driven decision-making experience. Instead of forcing users to manually combine dozens of filters and still feel uncertain, the platform begins by understanding the user as a person. It captures whether the buyer is looking for a long-term investment, a short-term appreciation opportunity, a stable self-use home, or a sustainable lifestyle choice. It also considers emotional comfort, future family plans, and financial mindset. Using artificial intelligence, the system translates these abstract goals into structured intelligence that can be matched against real-world property data. The outcome is not a long list of similar-looking listings, but a small set of highly relevant properties ranked by compatibility and explained with clear reasoning. For example, a user focused on low-risk, long-term value is shown properties with stable appreciation history, strong rental demand, and infrastructure-backed locations, while a high-risk investor sees emerging areas with higher growth potential. In essence, the AI Property Matchmaker acts as a trusted property advisor that understands intent, reduces confusion, and builds confidence in decision-making. Rather than helping users search faster, it helps them choose better, aligning property decisions with life goals instead of just checkboxes. 
 Image source: Microsoft 365 content library</a:t>
            </a:r>
          </a:p>
        </p:txBody>
      </p:sp>
      <p:sp>
        <p:nvSpPr>
          <p:cNvPr id="4" name="Slide Number Placeholder 3"/>
          <p:cNvSpPr>
            <a:spLocks noGrp="1"/>
          </p:cNvSpPr>
          <p:nvPr>
            <p:ph type="sldNum" sz="quarter" idx="5"/>
          </p:nvPr>
        </p:nvSpPr>
        <p:spPr/>
        <p:txBody>
          <a:bodyPr/>
          <a:lstStyle/>
          <a:p>
            <a:fld id="{C2A0A22E-8D2F-45B5-8341-9CDA215B2370}" type="slidenum">
              <a:t>3</a:t>
            </a:fld>
            <a:endParaRPr lang="en-US"/>
          </a:p>
        </p:txBody>
      </p:sp>
    </p:spTree>
    <p:extLst>
      <p:ext uri="{BB962C8B-B14F-4D97-AF65-F5344CB8AC3E}">
        <p14:creationId xmlns:p14="http://schemas.microsoft.com/office/powerpoint/2010/main" val="3650077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the heart of the AI Property Matchmaker is a multi-dimensional scoring framework designed to rank listings based on intent alignment rather than surface-level similarity. Each property is evaluated across several purpose-driven dimensions that reflect how people actually make decisions. These dimensions include investment horizon alignment, resale potential, financial risk exposure, self-sustainability, lifestyle compatibility, and future growth outlook of the location. The AI assigns dynamic weights to each dimension based on the user’s stated goals. For example, a long-term investor with low risk tolerance will see higher weighting for stability, infrastructure maturity, and resale liquidity, while a high-risk investor may see growth potential and price volatility weighted more heavily. The scoring model produces a unified compatibility score on a 0 to 100 scale, making it easy for users to compare options at a glance. Importantly, the system does not operate as a black box. Alongside the score, the AI provides reasoning statements that explain which factors contributed most to the ranking and where trade-offs exist. This transparency helps users understand not just which property is recommended, but why it is recommended for their specific intent. Over time, the framework can learn from user feedback and outcomes, continuously refining weightings and improving recommendation accuracy. This approach turns raw property data into actionable intelligence, enabling smarter, faster, and more confident decisions. 
 Image source: Microsoft 365 content library</a:t>
            </a:r>
          </a:p>
        </p:txBody>
      </p:sp>
      <p:sp>
        <p:nvSpPr>
          <p:cNvPr id="4" name="Slide Number Placeholder 3"/>
          <p:cNvSpPr>
            <a:spLocks noGrp="1"/>
          </p:cNvSpPr>
          <p:nvPr>
            <p:ph type="sldNum" sz="quarter" idx="5"/>
          </p:nvPr>
        </p:nvSpPr>
        <p:spPr/>
        <p:txBody>
          <a:bodyPr/>
          <a:lstStyle/>
          <a:p>
            <a:fld id="{C2A0A22E-8D2F-45B5-8341-9CDA215B2370}" type="slidenum">
              <a:t>4</a:t>
            </a:fld>
            <a:endParaRPr lang="en-US"/>
          </a:p>
        </p:txBody>
      </p:sp>
    </p:spTree>
    <p:extLst>
      <p:ext uri="{BB962C8B-B14F-4D97-AF65-F5344CB8AC3E}">
        <p14:creationId xmlns:p14="http://schemas.microsoft.com/office/powerpoint/2010/main" val="1863835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0B004-536E-9BE7-02CB-80B10A3D6C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507135-B5E7-5FF7-8CA9-AD919B8109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67BC67-31BB-4D95-5859-D1BB9EF73BF5}"/>
              </a:ext>
            </a:extLst>
          </p:cNvPr>
          <p:cNvSpPr>
            <a:spLocks noGrp="1"/>
          </p:cNvSpPr>
          <p:nvPr>
            <p:ph type="body" idx="1"/>
          </p:nvPr>
        </p:nvSpPr>
        <p:spPr/>
        <p:txBody>
          <a:bodyPr/>
          <a:lstStyle/>
          <a:p>
            <a:r>
              <a:rPr lang="en-US"/>
              <a:t>
At the heart of the AI Property Matchmaker is a multi-dimensional scoring framework designed to rank listings based on intent alignment rather than surface-level similarity. Each property is evaluated across several purpose-driven dimensions that reflect how people actually make decisions. These dimensions include investment horizon alignment, resale potential, financial risk exposure, self-sustainability, lifestyle compatibility, and future growth outlook of the location. The AI assigns dynamic weights to each dimension based on the user’s stated goals. For example, a long-term investor with low risk tolerance will see higher weighting for stability, infrastructure maturity, and resale liquidity, while a high-risk investor may see growth potential and price volatility weighted more heavily. The scoring model produces a unified compatibility score on a 0 to 100 scale, making it easy for users to compare options at a glance. Importantly, the system does not operate as a black box. Alongside the score, the AI provides reasoning statements that explain which factors contributed most to the ranking and where trade-offs exist. This transparency helps users understand not just which property is recommended, but why it is recommended for their specific intent. Over time, the framework can learn from user feedback and outcomes, continuously refining weightings and improving recommendation accuracy. This approach turns raw property data into actionable intelligence, enabling smarter, faster, and more confident decisions. 
 Image source: Microsoft 365 content library</a:t>
            </a:r>
          </a:p>
        </p:txBody>
      </p:sp>
      <p:sp>
        <p:nvSpPr>
          <p:cNvPr id="4" name="Slide Number Placeholder 3">
            <a:extLst>
              <a:ext uri="{FF2B5EF4-FFF2-40B4-BE49-F238E27FC236}">
                <a16:creationId xmlns:a16="http://schemas.microsoft.com/office/drawing/2014/main" id="{2243681B-63F2-15B5-C7F8-2CFEC8879006}"/>
              </a:ext>
            </a:extLst>
          </p:cNvPr>
          <p:cNvSpPr>
            <a:spLocks noGrp="1"/>
          </p:cNvSpPr>
          <p:nvPr>
            <p:ph type="sldNum" sz="quarter" idx="5"/>
          </p:nvPr>
        </p:nvSpPr>
        <p:spPr/>
        <p:txBody>
          <a:bodyPr/>
          <a:lstStyle/>
          <a:p>
            <a:fld id="{C2A0A22E-8D2F-45B5-8341-9CDA215B2370}" type="slidenum">
              <a:t>5</a:t>
            </a:fld>
            <a:endParaRPr lang="en-US"/>
          </a:p>
        </p:txBody>
      </p:sp>
    </p:spTree>
    <p:extLst>
      <p:ext uri="{BB962C8B-B14F-4D97-AF65-F5344CB8AC3E}">
        <p14:creationId xmlns:p14="http://schemas.microsoft.com/office/powerpoint/2010/main" val="32569955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business potential of the AI Property Matchmaker extends across multiple real estate value chains. In the B2C space, the platform can operate as a premium property advisory service, offering free basic matching and paid advanced insights such as detailed investment analysis and personalized consultations. In the B2B space, the AI matching engine can be licensed as an API to existing real estate portals, builders, and brokerage firms, enhancing their recommendation capabilities and user engagement. Developers and institutional investors can use the intelligence layer to understand buyer intent trends and optimize inventory positioning. Additionally, anonymized market insights derived from aggregated intent data can be monetized through analytics offerings, helping stakeholders understand demand patterns and risk sentiment across regions. Strategic partnerships with banks, insurers, and legal service providers can further expand revenue through referral and integration models. Because the solution improves decision quality rather than just discovery, it positions itself as a high-value intelligence layer rather than a commodity listing platform, enabling sustainable and scalable revenue models. 
 Image source: Microsoft 365 content library</a:t>
            </a:r>
          </a:p>
        </p:txBody>
      </p:sp>
      <p:sp>
        <p:nvSpPr>
          <p:cNvPr id="4" name="Slide Number Placeholder 3"/>
          <p:cNvSpPr>
            <a:spLocks noGrp="1"/>
          </p:cNvSpPr>
          <p:nvPr>
            <p:ph type="sldNum" sz="quarter" idx="5"/>
          </p:nvPr>
        </p:nvSpPr>
        <p:spPr/>
        <p:txBody>
          <a:bodyPr/>
          <a:lstStyle/>
          <a:p>
            <a:fld id="{C2A0A22E-8D2F-45B5-8341-9CDA215B2370}" type="slidenum">
              <a:t>6</a:t>
            </a:fld>
            <a:endParaRPr lang="en-US"/>
          </a:p>
        </p:txBody>
      </p:sp>
    </p:spTree>
    <p:extLst>
      <p:ext uri="{BB962C8B-B14F-4D97-AF65-F5344CB8AC3E}">
        <p14:creationId xmlns:p14="http://schemas.microsoft.com/office/powerpoint/2010/main" val="34545290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fld id="{BBB8170F-0370-4A38-8BF3-83D69476AE62}" type="datetime1">
              <a:rPr lang="en-US" smtClean="0"/>
              <a:t>10/12/26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318326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r>
              <a:rPr lang="en-US"/>
              <a:t>Footer Text</a:t>
            </a:r>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fld id="{20D15516-589F-487D-BF51-9635DCEA90D5}" type="datetime1">
              <a:rPr lang="en-US" smtClean="0"/>
              <a:t>10/12/26</a:t>
            </a:fld>
            <a:endParaRPr lang="en-US"/>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8336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6236208" cy="3694176"/>
          </a:xfrm>
        </p:spPr>
        <p:txBody>
          <a:bodyPr vert="horz" lIns="91440" tIns="45720" rIns="91440" bIns="45720" rtlCol="0" anchor="t">
            <a:normAutofit/>
          </a:bodyPr>
          <a:lstStyle>
            <a:lvl1pPr>
              <a:defRPr lang="en-US" sz="88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6236208"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413504" y="207982"/>
            <a:ext cx="1682496" cy="413360"/>
          </a:xfrm>
        </p:spPr>
        <p:txBody>
          <a:bodyPr/>
          <a:lstStyle>
            <a:lvl1pPr>
              <a:defRPr>
                <a:solidFill>
                  <a:schemeClr val="tx2"/>
                </a:solidFill>
              </a:defRPr>
            </a:lvl1pPr>
          </a:lstStyle>
          <a:p>
            <a:fld id="{F7E6234A-55DB-493D-B5E3-FA55E3CA245B}" type="datetime1">
              <a:rPr lang="en-US" smtClean="0"/>
              <a:t>10/12/26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6009801" y="207982"/>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278624" y="0"/>
            <a:ext cx="4913373" cy="6858000"/>
          </a:xfrm>
          <a:blipFill>
            <a:blip r:embed="rId2">
              <a:alphaModFix amt="80000"/>
            </a:blip>
            <a:stretch>
              <a:fillRect/>
            </a:stretch>
          </a:blipFill>
        </p:spPr>
        <p:txBody>
          <a:bodyPr/>
          <a:lstStyle>
            <a:lvl1pPr marL="0" indent="0">
              <a:buNone/>
              <a:defRPr/>
            </a:lvl1pPr>
          </a:lstStyle>
          <a:p>
            <a:r>
              <a:rPr lang="en-US"/>
              <a:t> </a:t>
            </a:r>
          </a:p>
        </p:txBody>
      </p:sp>
      <p:cxnSp>
        <p:nvCxnSpPr>
          <p:cNvPr id="7" name="Straight Connector 6">
            <a:extLst>
              <a:ext uri="{FF2B5EF4-FFF2-40B4-BE49-F238E27FC236}">
                <a16:creationId xmlns:a16="http://schemas.microsoft.com/office/drawing/2014/main" id="{87083F37-054B-54D7-2AD5-6DFFCC79603C}"/>
              </a:ext>
            </a:extLst>
          </p:cNvPr>
          <p:cNvCxnSpPr>
            <a:cxnSpLocks/>
          </p:cNvCxnSpPr>
          <p:nvPr/>
        </p:nvCxnSpPr>
        <p:spPr>
          <a:xfrm>
            <a:off x="0" y="5287974"/>
            <a:ext cx="72776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99AB8D9-761C-35FC-CA6D-1317D71DF6BE}"/>
              </a:ext>
            </a:extLst>
          </p:cNvPr>
          <p:cNvCxnSpPr>
            <a:cxnSpLocks/>
          </p:cNvCxnSpPr>
          <p:nvPr/>
        </p:nvCxnSpPr>
        <p:spPr>
          <a:xfrm flipV="1">
            <a:off x="7277621" y="0"/>
            <a:ext cx="0" cy="6858001"/>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724532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BD5D1244-0536-4076-95F8-65E3144966FF}" type="datetime1">
              <a:rPr lang="en-US" smtClean="0"/>
              <a:t>10/12/26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876234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AEB3F954-B0A7-AD5D-A897-AAA57CEEA771}"/>
              </a:ext>
            </a:extLst>
          </p:cNvPr>
          <p:cNvSpPr>
            <a:spLocks noGrp="1"/>
          </p:cNvSpPr>
          <p:nvPr>
            <p:ph type="pic" sz="quarter" idx="13" hasCustomPrompt="1"/>
          </p:nvPr>
        </p:nvSpPr>
        <p:spPr>
          <a:xfrm>
            <a:off x="0" y="0"/>
            <a:ext cx="12198096" cy="6858000"/>
          </a:xfrm>
          <a:custGeom>
            <a:avLst/>
            <a:gdLst>
              <a:gd name="connsiteX0" fmla="*/ 6914322 w 12198096"/>
              <a:gd name="connsiteY0" fmla="*/ 789558 h 6858000"/>
              <a:gd name="connsiteX1" fmla="*/ 6914322 w 12198096"/>
              <a:gd name="connsiteY1" fmla="*/ 6106620 h 6858000"/>
              <a:gd name="connsiteX2" fmla="*/ 11547659 w 12198096"/>
              <a:gd name="connsiteY2" fmla="*/ 6106620 h 6858000"/>
              <a:gd name="connsiteX3" fmla="*/ 11547659 w 12198096"/>
              <a:gd name="connsiteY3" fmla="*/ 789558 h 6858000"/>
              <a:gd name="connsiteX4" fmla="*/ 0 w 12198096"/>
              <a:gd name="connsiteY4" fmla="*/ 0 h 6858000"/>
              <a:gd name="connsiteX5" fmla="*/ 12198096 w 12198096"/>
              <a:gd name="connsiteY5" fmla="*/ 0 h 6858000"/>
              <a:gd name="connsiteX6" fmla="*/ 12198096 w 12198096"/>
              <a:gd name="connsiteY6" fmla="*/ 6858000 h 6858000"/>
              <a:gd name="connsiteX7" fmla="*/ 0 w 121980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8096" h="6858000">
                <a:moveTo>
                  <a:pt x="6914322" y="789558"/>
                </a:moveTo>
                <a:lnTo>
                  <a:pt x="6914322" y="6106620"/>
                </a:lnTo>
                <a:lnTo>
                  <a:pt x="11547659" y="6106620"/>
                </a:lnTo>
                <a:lnTo>
                  <a:pt x="11547659" y="789558"/>
                </a:lnTo>
                <a:close/>
                <a:moveTo>
                  <a:pt x="0" y="0"/>
                </a:moveTo>
                <a:lnTo>
                  <a:pt x="12198096" y="0"/>
                </a:lnTo>
                <a:lnTo>
                  <a:pt x="121980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6914324" y="789558"/>
            <a:ext cx="4633337" cy="4212210"/>
          </a:xfrm>
          <a:solidFill>
            <a:schemeClr val="bg2"/>
          </a:solidFill>
          <a:ln>
            <a:solidFill>
              <a:schemeClr val="tx2"/>
            </a:solidFill>
          </a:ln>
        </p:spPr>
        <p:txBody>
          <a:bodyPr vert="horz" lIns="320040" tIns="347472" rIns="22860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6914322" y="4994648"/>
            <a:ext cx="4633338" cy="1111972"/>
          </a:xfrm>
          <a:solidFill>
            <a:schemeClr val="bg2"/>
          </a:solidFill>
          <a:ln>
            <a:solidFill>
              <a:schemeClr val="tx2"/>
            </a:solidFill>
          </a:ln>
        </p:spPr>
        <p:txBody>
          <a:bodyPr vert="horz" lIns="320040" tIns="45720" rIns="274320" bIns="45720" rtlCol="0" anchor="ctr">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14323" y="207982"/>
            <a:ext cx="2687062" cy="413360"/>
          </a:xfrm>
        </p:spPr>
        <p:txBody>
          <a:bodyPr/>
          <a:lstStyle>
            <a:lvl1pPr>
              <a:defRPr>
                <a:solidFill>
                  <a:srgbClr val="FFFFFF"/>
                </a:solidFill>
                <a:effectLst>
                  <a:outerShdw blurRad="38100" dist="38100" dir="2700000" algn="tl">
                    <a:srgbClr val="000000">
                      <a:alpha val="43137"/>
                    </a:srgbClr>
                  </a:outerShdw>
                </a:effectLst>
              </a:defRPr>
            </a:lvl1pPr>
          </a:lstStyle>
          <a:p>
            <a:fld id="{AC13FD3B-23EF-4174-AD3C-BC50B64D7857}" type="datetime1">
              <a:rPr lang="en-US" smtClean="0"/>
              <a:t>10/12/26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3351154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5422392" cy="3822192"/>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86400"/>
            <a:ext cx="5422391" cy="978408"/>
          </a:xfrm>
        </p:spPr>
        <p:txBody>
          <a:bodyPr vert="horz" lIns="91440" tIns="45720" rIns="91440" bIns="45720" rtlCol="0" anchor="ctr">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815840" y="207982"/>
            <a:ext cx="1280160" cy="413360"/>
          </a:xfrm>
        </p:spPr>
        <p:txBody>
          <a:bodyPr/>
          <a:lstStyle/>
          <a:p>
            <a:fld id="{630E96CE-B7D5-4325-A1C8-DFEADC4BE081}" type="datetime1">
              <a:rPr lang="en-US" smtClean="0"/>
              <a:t>10/12/26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5982383" y="207982"/>
            <a:ext cx="546447" cy="413360"/>
          </a:xfrm>
        </p:spPr>
        <p:txBody>
          <a:body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035554" y="0"/>
            <a:ext cx="5156444" cy="6858000"/>
          </a:xfrm>
          <a:blipFill dpi="0" rotWithShape="1">
            <a:blip r:embed="rId2">
              <a:alphaModFix amt="80000"/>
            </a:blip>
            <a:srcRect/>
            <a:stretch>
              <a:fillRect/>
            </a:stretch>
          </a:blipFill>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E1B20121-9211-E62C-6EDF-8301AE0A0865}"/>
              </a:ext>
            </a:extLst>
          </p:cNvPr>
          <p:cNvCxnSpPr>
            <a:cxnSpLocks/>
          </p:cNvCxnSpPr>
          <p:nvPr/>
        </p:nvCxnSpPr>
        <p:spPr>
          <a:xfrm>
            <a:off x="-4130" y="5215687"/>
            <a:ext cx="703225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BA69D92-87B2-B41F-6979-69668092108B}"/>
              </a:ext>
            </a:extLst>
          </p:cNvPr>
          <p:cNvCxnSpPr>
            <a:cxnSpLocks/>
          </p:cNvCxnSpPr>
          <p:nvPr/>
        </p:nvCxnSpPr>
        <p:spPr>
          <a:xfrm flipV="1">
            <a:off x="7028120" y="0"/>
            <a:ext cx="0" cy="685800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875416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9287134" cy="3410712"/>
          </a:xfrm>
        </p:spPr>
        <p:txBody>
          <a:bodyPr vert="horz" lIns="91440" tIns="45720" rIns="91440" bIns="45720" rtlCol="0" anchor="t">
            <a:normAutofit/>
          </a:bodyPr>
          <a:lstStyle>
            <a:lvl1pPr>
              <a:defRPr lang="en-US" sz="125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11155680"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2"/>
                </a:solidFill>
              </a:defRPr>
            </a:lvl1pPr>
          </a:lstStyle>
          <a:p>
            <a:fld id="{09DAD850-6AC5-466F-AC13-19EF30EEFBC3}" type="datetime1">
              <a:rPr lang="en-US" smtClean="0"/>
              <a:t>10/12/26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9D0B70F0-3BE4-FD57-7260-3612F25DFB6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8588333"/>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E8F94E15-B448-489B-871D-A40527BFA7B7}" type="datetime1">
              <a:rPr lang="en-US" smtClean="0"/>
              <a:t>10/12/26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8647840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1426464"/>
            <a:ext cx="9528048" cy="4183468"/>
          </a:xfrm>
        </p:spPr>
        <p:txBody>
          <a:bodyPr vert="horz" lIns="91440" tIns="45720" rIns="91440" bIns="45720" rtlCol="0" anchor="b">
            <a:normAutofit/>
          </a:bodyPr>
          <a:lstStyle>
            <a:lvl1pPr>
              <a:defRPr lang="en-US" sz="115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779008"/>
            <a:ext cx="9528047" cy="923544"/>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680069" y="207982"/>
            <a:ext cx="2168017" cy="413360"/>
          </a:xfrm>
        </p:spPr>
        <p:txBody>
          <a:bodyPr/>
          <a:lstStyle/>
          <a:p>
            <a:fld id="{D9253186-4750-42D8-B836-81746FB2A999}" type="datetime1">
              <a:rPr lang="en-US" smtClean="0"/>
              <a:t>10/12/26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8F6B2E7A-179E-B6D8-4F25-0673E53A95D4}"/>
              </a:ext>
            </a:extLst>
          </p:cNvPr>
          <p:cNvCxnSpPr>
            <a:cxnSpLocks/>
          </p:cNvCxnSpPr>
          <p:nvPr/>
        </p:nvCxnSpPr>
        <p:spPr>
          <a:xfrm>
            <a:off x="1" y="790415"/>
            <a:ext cx="12191999"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85775762"/>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C8350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CE994A23-0EFF-404D-A2C5-6B54939039AD}" type="datetime1">
              <a:rPr lang="en-US" smtClean="0"/>
              <a:t>10/12/26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5058513"/>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accent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accent1"/>
                </a:solidFill>
              </a:defRPr>
            </a:lvl1pPr>
          </a:lstStyle>
          <a:p>
            <a:r>
              <a:rPr lang="en-US"/>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accent1"/>
                </a:solidFill>
              </a:defRPr>
            </a:lvl1pPr>
          </a:lstStyle>
          <a:p>
            <a:fld id="{4B393500-FDAE-4B7A-8E90-4B7ED0649363}" type="datetime1">
              <a:rPr lang="en-US" smtClean="0"/>
              <a:t>10/12/26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accent1"/>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67000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fld id="{D9D311C3-93DB-42DC-917F-4386F19A1E3B}" type="datetime1">
              <a:rPr lang="en-US" smtClean="0"/>
              <a:t>10/12/26</a:t>
            </a:fld>
            <a:endParaRPr lang="en-US"/>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7211878"/>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with Pictur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en-US"/>
              <a:t>Click to edit Master title style</a:t>
            </a:r>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fld id="{948C47DC-C479-4517-B1B0-94DB01BA76E7}"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2012978"/>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394368" y="1589105"/>
            <a:ext cx="5403264" cy="1622994"/>
          </a:xfrm>
        </p:spPr>
        <p:txBody>
          <a:bodyPr vert="horz" lIns="91440" tIns="45720" rIns="91440" bIns="45720" rtlCol="0" anchor="b">
            <a:normAutofit/>
          </a:bodyPr>
          <a:lstStyle>
            <a:lvl1pPr algn="ctr">
              <a:defRPr lang="en-US" sz="44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D956E9D4-3B6F-5DDD-5E3B-A829B10ED9F1}"/>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394368" y="3395398"/>
            <a:ext cx="5403264" cy="1837985"/>
          </a:xfrm>
        </p:spPr>
        <p:txBody>
          <a:bodyPr anchor="t"/>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60BAB4-BB08-FD4A-678D-2FFE35A0DFDA}"/>
              </a:ext>
            </a:extLst>
          </p:cNvPr>
          <p:cNvSpPr>
            <a:spLocks noGrp="1"/>
          </p:cNvSpPr>
          <p:nvPr>
            <p:ph type="dt" sz="half" idx="10"/>
          </p:nvPr>
        </p:nvSpPr>
        <p:spPr/>
        <p:txBody>
          <a:bodyPr/>
          <a:lstStyle/>
          <a:p>
            <a:fld id="{B24F1FC4-E055-4072-90AD-B359FC529E8A}" type="datetime1">
              <a:rPr lang="en-US" smtClean="0"/>
              <a:t>10/12/26</a:t>
            </a:fld>
            <a:endParaRPr lang="en-US"/>
          </a:p>
        </p:txBody>
      </p:sp>
      <p:sp>
        <p:nvSpPr>
          <p:cNvPr id="10" name="Slide Number Placeholder 9">
            <a:extLst>
              <a:ext uri="{FF2B5EF4-FFF2-40B4-BE49-F238E27FC236}">
                <a16:creationId xmlns:a16="http://schemas.microsoft.com/office/drawing/2014/main" id="{DBF6EF0E-4178-1F33-0BF9-2A2B4C33C257}"/>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801A3D6-493E-2CE6-4153-5A2D3C978311}"/>
              </a:ext>
            </a:extLst>
          </p:cNvPr>
          <p:cNvCxnSpPr>
            <a:cxnSpLocks/>
          </p:cNvCxnSpPr>
          <p:nvPr/>
        </p:nvCxnSpPr>
        <p:spPr>
          <a:xfrm>
            <a:off x="2673336"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D7E29DE-22CD-1512-C9E7-51C4D8B5F337}"/>
              </a:ext>
            </a:extLst>
          </p:cNvPr>
          <p:cNvCxnSpPr>
            <a:cxnSpLocks/>
          </p:cNvCxnSpPr>
          <p:nvPr/>
        </p:nvCxnSpPr>
        <p:spPr>
          <a:xfrm>
            <a:off x="9526413"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7271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2" y="1100834"/>
            <a:ext cx="8533261" cy="2314842"/>
          </a:xfrm>
        </p:spPr>
        <p:txBody>
          <a:bodyPr vert="horz" lIns="91440" tIns="45720" rIns="91440" bIns="45720" rtlCol="0" anchor="t">
            <a:normAutofit/>
          </a:bodyPr>
          <a:lstStyle>
            <a:lvl1pPr>
              <a:defRPr lang="en-US" sz="8000" dirty="0"/>
            </a:lvl1pPr>
          </a:lstStyle>
          <a:p>
            <a:pPr lvl="0"/>
            <a:r>
              <a:rPr lang="en-US"/>
              <a:t>Click to edit Master title style</a:t>
            </a:r>
          </a:p>
        </p:txBody>
      </p:sp>
      <p:sp>
        <p:nvSpPr>
          <p:cNvPr id="12" name="Footer Placeholder 11">
            <a:extLst>
              <a:ext uri="{FF2B5EF4-FFF2-40B4-BE49-F238E27FC236}">
                <a16:creationId xmlns:a16="http://schemas.microsoft.com/office/drawing/2014/main" id="{F6B2ADB6-8B11-5463-D307-3F4916CA6A70}"/>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566893" y="3442324"/>
            <a:ext cx="3894179" cy="2274889"/>
          </a:xfrm>
        </p:spPr>
        <p:txBody>
          <a:bodyPr vert="horz" lIns="91440" tIns="45720" rIns="91440" bIns="45720" rtlCol="0" anchor="b">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1A9A27FE-5C62-0E4C-1D35-2B5BE652199D}"/>
              </a:ext>
            </a:extLst>
          </p:cNvPr>
          <p:cNvSpPr>
            <a:spLocks noGrp="1"/>
          </p:cNvSpPr>
          <p:nvPr>
            <p:ph type="dt" sz="half" idx="10"/>
          </p:nvPr>
        </p:nvSpPr>
        <p:spPr/>
        <p:txBody>
          <a:bodyPr/>
          <a:lstStyle/>
          <a:p>
            <a:fld id="{69AE50BB-FE55-4F45-B460-B5BF3CD2BA72}" type="datetime1">
              <a:rPr lang="en-US" smtClean="0"/>
              <a:t>10/12/26</a:t>
            </a:fld>
            <a:endParaRPr lang="en-US"/>
          </a:p>
        </p:txBody>
      </p:sp>
      <p:sp>
        <p:nvSpPr>
          <p:cNvPr id="13" name="Slide Number Placeholder 12">
            <a:extLst>
              <a:ext uri="{FF2B5EF4-FFF2-40B4-BE49-F238E27FC236}">
                <a16:creationId xmlns:a16="http://schemas.microsoft.com/office/drawing/2014/main" id="{047450B0-6060-60C9-5AC2-20186A242445}"/>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59937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en-US"/>
              <a:t>Click to edit Master title style</a:t>
            </a:r>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fld id="{F92C9D0B-C1A3-434D-9CF9-A666A14DD8A1}" type="datetime1">
              <a:rPr lang="en-US" smtClean="0"/>
              <a:t>10/12/26</a:t>
            </a:fld>
            <a:endParaRPr lang="en-US"/>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89988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1264785"/>
            <a:ext cx="4479107" cy="4315917"/>
          </a:xfrm>
        </p:spPr>
        <p:txBody>
          <a:bodyPr vert="horz" lIns="91440" tIns="45720" rIns="91440" bIns="45720" rtlCol="0" anchor="ctr">
            <a:normAutofit/>
          </a:bodyPr>
          <a:lstStyle>
            <a:lvl1pPr>
              <a:defRPr lang="en-US" sz="6600" dirty="0"/>
            </a:lvl1pPr>
          </a:lstStyle>
          <a:p>
            <a:pPr lvl="0"/>
            <a:r>
              <a:rPr lang="en-US"/>
              <a:t>Click to edit Master title style</a:t>
            </a:r>
          </a:p>
        </p:txBody>
      </p:sp>
      <p:sp>
        <p:nvSpPr>
          <p:cNvPr id="10" name="Footer Placeholder 9">
            <a:extLst>
              <a:ext uri="{FF2B5EF4-FFF2-40B4-BE49-F238E27FC236}">
                <a16:creationId xmlns:a16="http://schemas.microsoft.com/office/drawing/2014/main" id="{922A59EF-3E61-0654-D289-2E1D6B738BA9}"/>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1264782"/>
            <a:ext cx="5869293" cy="43159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1E4E1FBF-A73A-1962-4961-FD2DDB212A04}"/>
              </a:ext>
            </a:extLst>
          </p:cNvPr>
          <p:cNvSpPr>
            <a:spLocks noGrp="1"/>
          </p:cNvSpPr>
          <p:nvPr>
            <p:ph type="dt" sz="half" idx="10"/>
          </p:nvPr>
        </p:nvSpPr>
        <p:spPr>
          <a:xfrm>
            <a:off x="5751577" y="207982"/>
            <a:ext cx="1921315" cy="413360"/>
          </a:xfrm>
        </p:spPr>
        <p:txBody>
          <a:bodyPr/>
          <a:lstStyle/>
          <a:p>
            <a:fld id="{A160C79D-A598-4F1A-884F-A703D5B0FD7B}" type="datetime1">
              <a:rPr lang="en-US" smtClean="0"/>
              <a:t>10/12/26</a:t>
            </a:fld>
            <a:endParaRPr lang="en-US"/>
          </a:p>
        </p:txBody>
      </p:sp>
      <p:sp>
        <p:nvSpPr>
          <p:cNvPr id="11" name="Slide Number Placeholder 10">
            <a:extLst>
              <a:ext uri="{FF2B5EF4-FFF2-40B4-BE49-F238E27FC236}">
                <a16:creationId xmlns:a16="http://schemas.microsoft.com/office/drawing/2014/main" id="{EB5754BB-F3CF-1B1E-E0B8-85D0578CB61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787587"/>
            <a:ext cx="0" cy="527031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63667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fld id="{742A22FE-7CAA-4561-B3B2-F8D8C37BE3D2}" type="datetime1">
              <a:rPr lang="en-US" smtClean="0"/>
              <a:t>10/12/26</a:t>
            </a:fld>
            <a:endParaRPr lang="en-US"/>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3854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1034473"/>
            <a:ext cx="11420337" cy="1582221"/>
          </a:xfrm>
        </p:spPr>
        <p:txBody>
          <a:bodyPr/>
          <a:lstStyle>
            <a:lvl1pPr>
              <a:defRPr sz="66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974109"/>
            <a:ext cx="11420336" cy="34015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E617F9A-AF72-E9F9-FE67-264CFD0B855C}"/>
              </a:ext>
            </a:extLst>
          </p:cNvPr>
          <p:cNvSpPr>
            <a:spLocks noGrp="1"/>
          </p:cNvSpPr>
          <p:nvPr>
            <p:ph type="ftr" sz="quarter" idx="11"/>
          </p:nvPr>
        </p:nvSpPr>
        <p:spPr/>
        <p:txBody>
          <a:bodyPr/>
          <a:lstStyle/>
          <a:p>
            <a:r>
              <a:rPr lang="en-US"/>
              <a:t>Footer Text</a:t>
            </a:r>
          </a:p>
        </p:txBody>
      </p:sp>
      <p:sp>
        <p:nvSpPr>
          <p:cNvPr id="8" name="Date Placeholder 7">
            <a:extLst>
              <a:ext uri="{FF2B5EF4-FFF2-40B4-BE49-F238E27FC236}">
                <a16:creationId xmlns:a16="http://schemas.microsoft.com/office/drawing/2014/main" id="{70522668-B624-9A0D-743B-874B6468AC18}"/>
              </a:ext>
            </a:extLst>
          </p:cNvPr>
          <p:cNvSpPr>
            <a:spLocks noGrp="1"/>
          </p:cNvSpPr>
          <p:nvPr>
            <p:ph type="dt" sz="half" idx="10"/>
          </p:nvPr>
        </p:nvSpPr>
        <p:spPr/>
        <p:txBody>
          <a:bodyPr/>
          <a:lstStyle/>
          <a:p>
            <a:fld id="{7DD67DB9-842B-4031-A4D5-ECF9E159B606}" type="datetime1">
              <a:rPr lang="en-US" smtClean="0"/>
              <a:t>10/12/26</a:t>
            </a:fld>
            <a:endParaRPr lang="en-US"/>
          </a:p>
        </p:txBody>
      </p:sp>
      <p:sp>
        <p:nvSpPr>
          <p:cNvPr id="10" name="Slide Number Placeholder 9">
            <a:extLst>
              <a:ext uri="{FF2B5EF4-FFF2-40B4-BE49-F238E27FC236}">
                <a16:creationId xmlns:a16="http://schemas.microsoft.com/office/drawing/2014/main" id="{F09EC300-3CBF-3BA7-991F-4143EBA209C4}"/>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2703185"/>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56480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5088" y="1249959"/>
            <a:ext cx="3578905" cy="5125673"/>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34E7AB67-A25E-F99D-7053-223A31AB4A91}"/>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75958" y="1249958"/>
            <a:ext cx="7022846" cy="53629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44B773E1-C0C5-10BC-5283-0943095DF2D9}"/>
              </a:ext>
            </a:extLst>
          </p:cNvPr>
          <p:cNvSpPr>
            <a:spLocks noGrp="1"/>
          </p:cNvSpPr>
          <p:nvPr>
            <p:ph type="dt" sz="half" idx="10"/>
          </p:nvPr>
        </p:nvSpPr>
        <p:spPr>
          <a:xfrm>
            <a:off x="4775958" y="207982"/>
            <a:ext cx="1921315" cy="413360"/>
          </a:xfrm>
        </p:spPr>
        <p:txBody>
          <a:bodyPr/>
          <a:lstStyle/>
          <a:p>
            <a:fld id="{CBE35CD3-9190-4B1C-AA9F-C899B0873567}" type="datetime1">
              <a:rPr lang="en-US" smtClean="0"/>
              <a:t>10/12/26</a:t>
            </a:fld>
            <a:endParaRPr lang="en-US"/>
          </a:p>
        </p:txBody>
      </p:sp>
      <p:sp>
        <p:nvSpPr>
          <p:cNvPr id="10" name="Slide Number Placeholder 9">
            <a:extLst>
              <a:ext uri="{FF2B5EF4-FFF2-40B4-BE49-F238E27FC236}">
                <a16:creationId xmlns:a16="http://schemas.microsoft.com/office/drawing/2014/main" id="{8E615B6D-D0FF-BC11-9C32-FDA7B7D08BA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336321"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20253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83140"/>
            <a:ext cx="11452341" cy="66569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2" name="Footer Placeholder 11">
            <a:extLst>
              <a:ext uri="{FF2B5EF4-FFF2-40B4-BE49-F238E27FC236}">
                <a16:creationId xmlns:a16="http://schemas.microsoft.com/office/drawing/2014/main" id="{E3CC60A8-3DE8-B0E7-1EC5-2B337CF2BA7D}"/>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1743311"/>
            <a:ext cx="11452342" cy="491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7EB01C-FB71-1416-6F69-B25D90D39C0F}"/>
              </a:ext>
            </a:extLst>
          </p:cNvPr>
          <p:cNvSpPr>
            <a:spLocks noGrp="1"/>
          </p:cNvSpPr>
          <p:nvPr>
            <p:ph type="dt" sz="half" idx="10"/>
          </p:nvPr>
        </p:nvSpPr>
        <p:spPr/>
        <p:txBody>
          <a:bodyPr/>
          <a:lstStyle/>
          <a:p>
            <a:fld id="{52A7ABF8-FBB9-4C71-BBD7-96C5E24AE291}" type="datetime1">
              <a:rPr lang="en-US" smtClean="0"/>
              <a:t>10/12/26</a:t>
            </a:fld>
            <a:endParaRPr lang="en-US"/>
          </a:p>
        </p:txBody>
      </p:sp>
      <p:sp>
        <p:nvSpPr>
          <p:cNvPr id="13" name="Slide Number Placeholder 12">
            <a:extLst>
              <a:ext uri="{FF2B5EF4-FFF2-40B4-BE49-F238E27FC236}">
                <a16:creationId xmlns:a16="http://schemas.microsoft.com/office/drawing/2014/main" id="{8E842DA4-700F-A2D4-6AB8-0BAEDF3210B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C5BF1F3F-87E2-1270-FB4D-FD251AD7E63C}"/>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83715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491FA625-EDE8-4CCD-93F2-36B8EAED6AA1}"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23895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6499654" cy="2039112"/>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1"/>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364879" y="210311"/>
            <a:ext cx="1679642" cy="411480"/>
          </a:xfrm>
        </p:spPr>
        <p:txBody>
          <a:bodyPr/>
          <a:lstStyle/>
          <a:p>
            <a:fld id="{18520A44-1A63-4FB7-80E4-61FF907A138E}"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6147480" y="21031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2944368"/>
            <a:ext cx="6499657"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77621" y="0"/>
            <a:ext cx="4914379"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272857"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1667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r>
              <a:rPr lang="en-US"/>
              <a:t>Footer Text</a:t>
            </a:r>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5824A7B9-17B9-4425-9158-739F678A55EB}" type="datetime1">
              <a:rPr lang="en-US" smtClean="0"/>
              <a:t>10/12/26</a:t>
            </a:fld>
            <a:endParaRPr lang="en-US"/>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35810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r>
              <a:rPr lang="en-US"/>
              <a:t>Footer Text</a:t>
            </a:r>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28E8FF4C-7F6A-4962-9270-F797B8959287}" type="datetime1">
              <a:rPr lang="en-US" smtClean="0"/>
              <a:t>10/12/26</a:t>
            </a:fld>
            <a:endParaRPr lang="en-US"/>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18029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749808"/>
            <a:ext cx="4163674" cy="2039112"/>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7520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73675" y="210312"/>
            <a:ext cx="1058111" cy="411480"/>
          </a:xfrm>
        </p:spPr>
        <p:txBody>
          <a:bodyPr/>
          <a:lstStyle/>
          <a:p>
            <a:fld id="{A2955807-6726-42C9-B7D5-F5CAD1E31DC0}"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54543" y="210312"/>
            <a:ext cx="440969"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61" y="2944368"/>
            <a:ext cx="4163674"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881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01013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064F86E1-145A-4683-AD05-97E7E41B4995}"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76881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670308" y="853949"/>
            <a:ext cx="4102574" cy="151607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1" y="0"/>
            <a:ext cx="7285976" cy="6858000"/>
          </a:xfrm>
          <a:blipFill>
            <a:blip r:embed="rId2">
              <a:alphaModFix amt="8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7670308" y="213482"/>
            <a:ext cx="2129674"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930367" y="210312"/>
            <a:ext cx="1216834" cy="411480"/>
          </a:xfrm>
        </p:spPr>
        <p:txBody>
          <a:bodyPr/>
          <a:lstStyle/>
          <a:p>
            <a:fld id="{3E021DF1-F92E-444A-9AEF-304BD60FF6DA}"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26453" y="210312"/>
            <a:ext cx="679998"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70308" y="2578607"/>
            <a:ext cx="4102585"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19E9D652-D7DE-25C0-FCD7-3031AEEB0C6C}"/>
              </a:ext>
            </a:extLst>
          </p:cNvPr>
          <p:cNvCxnSpPr>
            <a:cxnSpLocks/>
          </p:cNvCxnSpPr>
          <p:nvPr/>
        </p:nvCxnSpPr>
        <p:spPr>
          <a:xfrm>
            <a:off x="7291894"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79826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fld id="{96B14CE5-CB23-4F24-AF40-FFA10F25B799}"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41346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r>
              <a:rPr lang="en-US"/>
              <a:t>Footer Text</a:t>
            </a:r>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fld id="{C939A3FF-4925-4C53-B6D9-F2B1807D4179}" type="datetime1">
              <a:rPr lang="en-US" smtClean="0"/>
              <a:t>10/12/26</a:t>
            </a:fld>
            <a:endParaRPr lang="en-US"/>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22840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3" cy="960120"/>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58B12C2E-FD87-6FEB-F35D-ABCDF00C8DFA}"/>
              </a:ext>
            </a:extLst>
          </p:cNvPr>
          <p:cNvSpPr>
            <a:spLocks noGrp="1"/>
          </p:cNvSpPr>
          <p:nvPr>
            <p:ph type="ftr" sz="quarter" idx="15"/>
          </p:nvPr>
        </p:nvSpPr>
        <p:spPr/>
        <p:txBody>
          <a:bodyPr/>
          <a:lstStyle/>
          <a:p>
            <a:r>
              <a:rPr lang="en-US"/>
              <a:t>Footer Text</a:t>
            </a:r>
          </a:p>
        </p:txBody>
      </p:sp>
      <p:sp>
        <p:nvSpPr>
          <p:cNvPr id="7" name="Date Placeholder 6">
            <a:extLst>
              <a:ext uri="{FF2B5EF4-FFF2-40B4-BE49-F238E27FC236}">
                <a16:creationId xmlns:a16="http://schemas.microsoft.com/office/drawing/2014/main" id="{85656A87-5539-46DA-CF5D-F2506ECA3F8D}"/>
              </a:ext>
            </a:extLst>
          </p:cNvPr>
          <p:cNvSpPr>
            <a:spLocks noGrp="1"/>
          </p:cNvSpPr>
          <p:nvPr>
            <p:ph type="dt" sz="half" idx="14"/>
          </p:nvPr>
        </p:nvSpPr>
        <p:spPr/>
        <p:txBody>
          <a:bodyPr/>
          <a:lstStyle/>
          <a:p>
            <a:fld id="{C3A045AE-50EB-46C6-B8D1-C8DF92FBD24F}" type="datetime1">
              <a:rPr lang="en-US" smtClean="0"/>
              <a:t>10/12/26</a:t>
            </a:fld>
            <a:endParaRPr lang="en-US"/>
          </a:p>
        </p:txBody>
      </p:sp>
      <p:sp>
        <p:nvSpPr>
          <p:cNvPr id="12" name="Slide Number Placeholder 11">
            <a:extLst>
              <a:ext uri="{FF2B5EF4-FFF2-40B4-BE49-F238E27FC236}">
                <a16:creationId xmlns:a16="http://schemas.microsoft.com/office/drawing/2014/main" id="{01AB7173-DF2F-B8EA-F83D-4C7263C765EB}"/>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1834525"/>
            <a:ext cx="4905942" cy="5023476"/>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2911" y="2180556"/>
            <a:ext cx="6435936" cy="430476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4914379"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33545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7" cy="960120"/>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BBEAB049-8AFC-5262-0ECB-2E9CDA2066B9}"/>
              </a:ext>
            </a:extLst>
          </p:cNvPr>
          <p:cNvSpPr>
            <a:spLocks noGrp="1"/>
          </p:cNvSpPr>
          <p:nvPr>
            <p:ph type="ftr" sz="quarter" idx="15"/>
          </p:nvPr>
        </p:nvSpPr>
        <p:spPr/>
        <p:txBody>
          <a:bodyPr/>
          <a:lstStyle/>
          <a:p>
            <a:r>
              <a:rPr lang="en-US"/>
              <a:t>Footer Text</a:t>
            </a:r>
          </a:p>
        </p:txBody>
      </p:sp>
      <p:sp>
        <p:nvSpPr>
          <p:cNvPr id="7" name="Date Placeholder 6">
            <a:extLst>
              <a:ext uri="{FF2B5EF4-FFF2-40B4-BE49-F238E27FC236}">
                <a16:creationId xmlns:a16="http://schemas.microsoft.com/office/drawing/2014/main" id="{6E26863A-85CF-52FA-E2B2-AF70382C6922}"/>
              </a:ext>
            </a:extLst>
          </p:cNvPr>
          <p:cNvSpPr>
            <a:spLocks noGrp="1"/>
          </p:cNvSpPr>
          <p:nvPr>
            <p:ph type="dt" sz="half" idx="14"/>
          </p:nvPr>
        </p:nvSpPr>
        <p:spPr/>
        <p:txBody>
          <a:bodyPr/>
          <a:lstStyle/>
          <a:p>
            <a:fld id="{E1987558-2E71-415A-A90B-E63D7A0329F1}" type="datetime1">
              <a:rPr lang="en-US" smtClean="0"/>
              <a:t>10/12/26</a:t>
            </a:fld>
            <a:endParaRPr lang="en-US"/>
          </a:p>
        </p:txBody>
      </p:sp>
      <p:sp>
        <p:nvSpPr>
          <p:cNvPr id="12" name="Slide Number Placeholder 11">
            <a:extLst>
              <a:ext uri="{FF2B5EF4-FFF2-40B4-BE49-F238E27FC236}">
                <a16:creationId xmlns:a16="http://schemas.microsoft.com/office/drawing/2014/main" id="{1DF7822C-4885-9FA2-F9E5-E0B61BDDB41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6419605" cy="437535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86058" y="1834525"/>
            <a:ext cx="4905942" cy="5023476"/>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7286058"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474491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fld id="{220747AD-BB60-464B-B16B-6CC7DCEAA31E}"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84247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4364336"/>
            <a:ext cx="3593592" cy="164772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3985863"/>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0" y="4321099"/>
            <a:ext cx="7136195" cy="206742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5"/>
            <a:ext cx="2962656" cy="36576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0" y="6437375"/>
            <a:ext cx="4549414" cy="365760"/>
          </a:xfrm>
        </p:spPr>
        <p:txBody>
          <a:bodyPr/>
          <a:lstStyle/>
          <a:p>
            <a:fld id="{9215AEAD-579C-4AC1-88F0-8AB8BCFD43FD}"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3657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3985863"/>
            <a:ext cx="0" cy="287213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985863"/>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20600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3593592" cy="164212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210311"/>
            <a:ext cx="4549413" cy="411480"/>
          </a:xfrm>
        </p:spPr>
        <p:txBody>
          <a:bodyPr/>
          <a:lstStyle/>
          <a:p>
            <a:fld id="{6F2DDD3F-C716-416F-92A0-B3CC5AC8AFF6}"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717941"/>
            <a:ext cx="7073776" cy="206654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3048520"/>
            <a:ext cx="12198096" cy="3809480"/>
          </a:xfrm>
          <a:blipFill>
            <a:blip r:embed="rId2">
              <a:alphaModFix amt="80000"/>
            </a:blip>
            <a:stretch>
              <a:fillRect/>
            </a:stretch>
          </a:blipFill>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0"/>
            <a:ext cx="0" cy="3045465"/>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045465"/>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22242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4392B674-7AB8-8272-87B1-5B7038F7CB85}"/>
              </a:ext>
            </a:extLst>
          </p:cNvPr>
          <p:cNvSpPr>
            <a:spLocks noGrp="1"/>
          </p:cNvSpPr>
          <p:nvPr>
            <p:ph type="pic" sz="quarter" idx="13" hasCustomPrompt="1"/>
          </p:nvPr>
        </p:nvSpPr>
        <p:spPr>
          <a:xfrm>
            <a:off x="0" y="0"/>
            <a:ext cx="12191996" cy="6858000"/>
          </a:xfrm>
          <a:custGeom>
            <a:avLst/>
            <a:gdLst>
              <a:gd name="connsiteX0" fmla="*/ 795631 w 12191996"/>
              <a:gd name="connsiteY0" fmla="*/ 789997 h 6858000"/>
              <a:gd name="connsiteX1" fmla="*/ 795631 w 12191996"/>
              <a:gd name="connsiteY1" fmla="*/ 6068003 h 6858000"/>
              <a:gd name="connsiteX2" fmla="*/ 4649508 w 12191996"/>
              <a:gd name="connsiteY2" fmla="*/ 6068003 h 6858000"/>
              <a:gd name="connsiteX3" fmla="*/ 4649508 w 12191996"/>
              <a:gd name="connsiteY3" fmla="*/ 789997 h 6858000"/>
              <a:gd name="connsiteX4" fmla="*/ 0 w 12191996"/>
              <a:gd name="connsiteY4" fmla="*/ 0 h 6858000"/>
              <a:gd name="connsiteX5" fmla="*/ 12191996 w 12191996"/>
              <a:gd name="connsiteY5" fmla="*/ 0 h 6858000"/>
              <a:gd name="connsiteX6" fmla="*/ 12191996 w 12191996"/>
              <a:gd name="connsiteY6" fmla="*/ 6858000 h 6858000"/>
              <a:gd name="connsiteX7" fmla="*/ 0 w 121919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6" h="6858000">
                <a:moveTo>
                  <a:pt x="795631" y="789997"/>
                </a:moveTo>
                <a:lnTo>
                  <a:pt x="795631" y="6068003"/>
                </a:lnTo>
                <a:lnTo>
                  <a:pt x="4649508" y="6068003"/>
                </a:lnTo>
                <a:lnTo>
                  <a:pt x="4649508" y="789997"/>
                </a:lnTo>
                <a:close/>
                <a:moveTo>
                  <a:pt x="0" y="0"/>
                </a:moveTo>
                <a:lnTo>
                  <a:pt x="12191996" y="0"/>
                </a:lnTo>
                <a:lnTo>
                  <a:pt x="121919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95631" y="789997"/>
            <a:ext cx="3853877" cy="5280546"/>
          </a:xfrm>
          <a:solidFill>
            <a:schemeClr val="bg2"/>
          </a:solidFill>
          <a:ln>
            <a:solidFill>
              <a:schemeClr val="tx2"/>
            </a:solidFill>
          </a:ln>
        </p:spPr>
        <p:txBody>
          <a:bodyPr vert="horz" lIns="45720" tIns="320040" rIns="91440" bIns="3840480" rtlCol="0" anchor="t">
            <a:normAutofit/>
          </a:bodyPr>
          <a:lstStyle>
            <a:lvl1pPr marL="182880">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688899" cy="411480"/>
          </a:xfrm>
        </p:spPr>
        <p:txBody>
          <a:bodyPr/>
          <a:lstStyle>
            <a:lvl1pPr>
              <a:defRPr>
                <a:solidFill>
                  <a:srgbClr val="FFFFFF"/>
                </a:solidFill>
                <a:effectLst>
                  <a:outerShdw blurRad="38100" dist="38100" dir="2700000" algn="tl">
                    <a:srgbClr val="000000">
                      <a:alpha val="43137"/>
                    </a:srgbClr>
                  </a:outerShdw>
                </a:effectLst>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129520" y="210312"/>
            <a:ext cx="1060704" cy="411480"/>
          </a:xfrm>
        </p:spPr>
        <p:txBody>
          <a:bodyPr/>
          <a:lstStyle>
            <a:lvl1pPr>
              <a:defRPr>
                <a:solidFill>
                  <a:srgbClr val="FFFFFF"/>
                </a:solidFill>
                <a:effectLst>
                  <a:outerShdw blurRad="38100" dist="38100" dir="2700000" algn="tl">
                    <a:srgbClr val="000000">
                      <a:alpha val="43137"/>
                    </a:srgbClr>
                  </a:outerShdw>
                </a:effectLst>
              </a:defRPr>
            </a:lvl1pPr>
          </a:lstStyle>
          <a:p>
            <a:fld id="{A1EA33C4-6E91-4A95-864E-A6A838FBE588}"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103061" y="210312"/>
            <a:ext cx="546447" cy="413360"/>
          </a:xfrm>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1051559" y="2356793"/>
            <a:ext cx="3364992" cy="3467535"/>
          </a:xfrm>
          <a:solidFill>
            <a:schemeClr val="bg2"/>
          </a:solidFill>
          <a:ln>
            <a:noFill/>
          </a:ln>
          <a:effectLst>
            <a:outerShdw dist="12700" dir="16200000" rotWithShape="0">
              <a:prstClr val="black"/>
            </a:outerShdw>
          </a:effectLst>
        </p:spPr>
        <p:txBody>
          <a:bodyPr lIns="45720" tIns="137160" rIns="45720" anchor="ctr">
            <a:normAutofit/>
          </a:bodyPr>
          <a:lstStyle>
            <a:lvl1pPr marL="0">
              <a:defRPr/>
            </a:lvl1pPr>
            <a:lvl2pPr marL="0">
              <a:defRPr/>
            </a:lvl2pPr>
            <a:lvl3pPr marL="0">
              <a:defRPr/>
            </a:lvl3pPr>
            <a:lvl4pPr marL="0">
              <a:defRPr/>
            </a:lvl4pPr>
            <a:lvl5pPr mar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5360346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r>
              <a:rPr lang="en-US"/>
              <a:t>Footer Text</a:t>
            </a:r>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B340F08F-40FA-4D3B-96CF-F8FAF483E9A7}" type="datetime1">
              <a:rPr lang="en-US" smtClean="0"/>
              <a:t>10/12/26</a:t>
            </a:fld>
            <a:endParaRPr lang="en-US"/>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907304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762002"/>
            <a:ext cx="5294939" cy="1555895"/>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70F70C4A-BA92-6BFC-3B1F-307DC253CC2B}"/>
              </a:ext>
            </a:extLst>
          </p:cNvPr>
          <p:cNvSpPr>
            <a:spLocks noGrp="1"/>
          </p:cNvSpPr>
          <p:nvPr>
            <p:ph type="ftr" sz="quarter" idx="15"/>
          </p:nvPr>
        </p:nvSpPr>
        <p:spPr/>
        <p:txBody>
          <a:bodyPr/>
          <a:lstStyle/>
          <a:p>
            <a:r>
              <a:rPr lang="en-US"/>
              <a:t>Footer Text</a:t>
            </a:r>
          </a:p>
        </p:txBody>
      </p:sp>
      <p:sp>
        <p:nvSpPr>
          <p:cNvPr id="8" name="Date Placeholder 7">
            <a:extLst>
              <a:ext uri="{FF2B5EF4-FFF2-40B4-BE49-F238E27FC236}">
                <a16:creationId xmlns:a16="http://schemas.microsoft.com/office/drawing/2014/main" id="{E2862A36-3103-C394-ACDE-9712D22EC1E9}"/>
              </a:ext>
            </a:extLst>
          </p:cNvPr>
          <p:cNvSpPr>
            <a:spLocks noGrp="1"/>
          </p:cNvSpPr>
          <p:nvPr>
            <p:ph type="dt" sz="half" idx="14"/>
          </p:nvPr>
        </p:nvSpPr>
        <p:spPr>
          <a:xfrm>
            <a:off x="6340642" y="207982"/>
            <a:ext cx="1921315" cy="413360"/>
          </a:xfrm>
        </p:spPr>
        <p:txBody>
          <a:bodyPr/>
          <a:lstStyle/>
          <a:p>
            <a:fld id="{025BF5DA-9B72-4C47-B5EF-1EED5B08EE79}" type="datetime1">
              <a:rPr lang="en-US" smtClean="0"/>
              <a:t>10/12/26</a:t>
            </a:fld>
            <a:endParaRPr lang="en-US"/>
          </a:p>
        </p:txBody>
      </p:sp>
      <p:sp>
        <p:nvSpPr>
          <p:cNvPr id="11" name="Slide Number Placeholder 10">
            <a:extLst>
              <a:ext uri="{FF2B5EF4-FFF2-40B4-BE49-F238E27FC236}">
                <a16:creationId xmlns:a16="http://schemas.microsoft.com/office/drawing/2014/main" id="{E054C547-CF4F-67F9-FBC5-A0BE282578D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2442689"/>
            <a:ext cx="5875421" cy="4422032"/>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6340642" y="762000"/>
            <a:ext cx="5432239"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58754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5875423"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867666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EB5EDF0F-3515-4895-B663-882304741893}"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89638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1152143"/>
            <a:ext cx="4350052" cy="2620959"/>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64000" y="210312"/>
            <a:ext cx="1569350" cy="411480"/>
          </a:xfrm>
        </p:spPr>
        <p:txBody>
          <a:bodyPr/>
          <a:lstStyle/>
          <a:p>
            <a:fld id="{B534C9EB-6793-4BE3-BB6C-BE53FADDC8D1}"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4089769"/>
            <a:ext cx="4921917" cy="2777751"/>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3" y="1152144"/>
            <a:ext cx="6414499" cy="5401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083425"/>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65792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7874" y="5197449"/>
            <a:ext cx="4244126" cy="146304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58383" y="210312"/>
            <a:ext cx="1569350" cy="411480"/>
          </a:xfrm>
        </p:spPr>
        <p:txBody>
          <a:bodyPr/>
          <a:lstStyle/>
          <a:p>
            <a:fld id="{0E608933-3727-45F8-8E35-F46170696AC2}"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794335"/>
            <a:ext cx="4921917" cy="4047478"/>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152144"/>
            <a:ext cx="6382512" cy="53400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841814"/>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876704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Number Larg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05B29ED0-7871-4976-8402-1756C1FAC1EA}"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7948243"/>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Number Larg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0624" y="5349240"/>
            <a:ext cx="11414692" cy="1225296"/>
          </a:xfrm>
        </p:spPr>
        <p:txBody>
          <a:bodyPr anchor="t">
            <a:normAutofit/>
          </a:bodyPr>
          <a:lstStyle>
            <a:lvl1pPr>
              <a:lnSpc>
                <a:spcPct val="80000"/>
              </a:lnSpc>
              <a:defRPr sz="4000" cap="all" spc="100" baseline="0">
                <a:solidFill>
                  <a:schemeClr val="tx2"/>
                </a:solidFill>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219455" y="1188321"/>
            <a:ext cx="11615861" cy="4258079"/>
          </a:xfrm>
        </p:spPr>
        <p:txBody>
          <a:bodyPr vert="horz" lIns="91440" tIns="45720" rIns="91440" bIns="45720" rtlCol="0" anchor="b">
            <a:normAutofit/>
          </a:bodyPr>
          <a:lstStyle>
            <a:lvl1pPr marL="0" indent="0">
              <a:lnSpc>
                <a:spcPct val="70000"/>
              </a:lnSpc>
              <a:buNone/>
              <a:defRPr lang="en-US" sz="40100" dirty="0">
                <a:ln>
                  <a:solidFill>
                    <a:schemeClr val="tx2"/>
                  </a:solidFill>
                </a:ln>
                <a:solidFill>
                  <a:schemeClr val="bg2"/>
                </a:solidFill>
                <a:latin typeface="+mj-lt"/>
              </a:defRPr>
            </a:lvl1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normAutofit/>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FFB8A85C-40AB-478D-AA51-CA7D29CEF737}"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367407E9-9629-73EA-8583-87EC092046E4}"/>
              </a:ext>
            </a:extLst>
          </p:cNvPr>
          <p:cNvCxnSpPr>
            <a:cxnSpLocks/>
          </p:cNvCxnSpPr>
          <p:nvPr/>
        </p:nvCxnSpPr>
        <p:spPr>
          <a:xfrm>
            <a:off x="0" y="50559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1EB09F8-0C93-A873-28FE-48A38B4CEAD9}"/>
              </a:ext>
            </a:extLst>
          </p:cNvPr>
          <p:cNvCxnSpPr>
            <a:cxnSpLocks/>
          </p:cNvCxnSpPr>
          <p:nvPr/>
        </p:nvCxnSpPr>
        <p:spPr>
          <a:xfrm>
            <a:off x="0" y="7887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3759223"/>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tx2"/>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FEA22AB6-0BB7-4DCA-85DA-8246194506D3}"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8809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Number Larg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1480" y="5172725"/>
            <a:ext cx="11356848" cy="777240"/>
          </a:xfrm>
        </p:spPr>
        <p:txBody>
          <a:bodyPr anchor="ctr">
            <a:normAutofit/>
          </a:bodyPr>
          <a:lstStyle>
            <a:lvl1pPr algn="ctr">
              <a:lnSpc>
                <a:spcPct val="110000"/>
              </a:lnSpc>
              <a:defRPr sz="2000" cap="all" spc="100" baseline="0">
                <a:solidFill>
                  <a:schemeClr val="tx2">
                    <a:lumMod val="90000"/>
                  </a:schemeClr>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822960" y="1201036"/>
            <a:ext cx="10543032" cy="4050792"/>
          </a:xfrm>
        </p:spPr>
        <p:txBody>
          <a:bodyPr vert="horz" lIns="91440" tIns="45720" rIns="91440" bIns="45720" rtlCol="0" anchor="t">
            <a:normAutofit/>
          </a:bodyPr>
          <a:lstStyle>
            <a:lvl1pPr marL="0" indent="0" algn="ctr">
              <a:lnSpc>
                <a:spcPct val="70000"/>
              </a:lnSpc>
              <a:buNone/>
              <a:defRPr lang="en-US" sz="40100" dirty="0">
                <a:solidFill>
                  <a:schemeClr val="tx2">
                    <a:lumMod val="90000"/>
                  </a:schemeClr>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54495"/>
            <a:ext cx="2962656" cy="411480"/>
          </a:xfrm>
        </p:spPr>
        <p:txBody>
          <a:bodyPr/>
          <a:lstStyle>
            <a:lvl1pPr>
              <a:defRPr>
                <a:solidFill>
                  <a:schemeClr val="tx2">
                    <a:lumMod val="90000"/>
                  </a:schemeClr>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54495"/>
            <a:ext cx="1679642" cy="411480"/>
          </a:xfrm>
        </p:spPr>
        <p:txBody>
          <a:bodyPr/>
          <a:lstStyle>
            <a:lvl1pPr>
              <a:defRPr>
                <a:solidFill>
                  <a:schemeClr val="tx2">
                    <a:lumMod val="90000"/>
                  </a:schemeClr>
                </a:solidFill>
              </a:defRPr>
            </a:lvl1pPr>
          </a:lstStyle>
          <a:p>
            <a:fld id="{C5FEC425-38EB-4C31-A115-909870F4944E}"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54496"/>
            <a:ext cx="546447" cy="413360"/>
          </a:xfrm>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2059084B-1C57-0F86-56B0-E7DC2934BA40}"/>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344636A-F38C-DF3B-6439-B5B73A797B53}"/>
              </a:ext>
            </a:extLst>
          </p:cNvPr>
          <p:cNvCxnSpPr>
            <a:cxnSpLocks/>
          </p:cNvCxnSpPr>
          <p:nvPr/>
        </p:nvCxnSpPr>
        <p:spPr>
          <a:xfrm>
            <a:off x="0" y="5274776"/>
            <a:ext cx="12192000" cy="0"/>
          </a:xfrm>
          <a:prstGeom prst="line">
            <a:avLst/>
          </a:prstGeom>
          <a:ln w="9525">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4270668"/>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Statement">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fld id="{453B8C54-B76A-4DD8-BD0B-11200408342B}" type="datetime1">
              <a:rPr lang="en-US" smtClean="0"/>
              <a:t>10/12/26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8823852"/>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576945" y="1341912"/>
            <a:ext cx="7024439" cy="4120737"/>
          </a:xfrm>
        </p:spPr>
        <p:txBody>
          <a:bodyPr anchor="ctr">
            <a:normAutofit/>
          </a:bodyPr>
          <a:lstStyle>
            <a:lvl1pPr marL="0" indent="0" algn="ctr">
              <a:lnSpc>
                <a:spcPct val="75000"/>
              </a:lnSpc>
              <a:buNone/>
              <a:defRPr sz="5400" b="0">
                <a:solidFill>
                  <a:schemeClr val="tx2"/>
                </a:solidFill>
                <a:latin typeface="+mj-lt"/>
              </a:defRPr>
            </a:lvl1pPr>
            <a:lvl2pPr marL="228600" indent="0" algn="ctr">
              <a:lnSpc>
                <a:spcPct val="75000"/>
              </a:lnSpc>
              <a:buNone/>
              <a:defRPr sz="4800" b="0">
                <a:solidFill>
                  <a:schemeClr val="tx2"/>
                </a:solidFill>
                <a:latin typeface="+mj-lt"/>
              </a:defRPr>
            </a:lvl2pPr>
            <a:lvl3pPr marL="457200" indent="0" algn="ctr">
              <a:lnSpc>
                <a:spcPct val="75000"/>
              </a:lnSpc>
              <a:buNone/>
              <a:defRPr sz="4400" b="0">
                <a:solidFill>
                  <a:schemeClr val="tx2"/>
                </a:solidFill>
                <a:latin typeface="+mj-lt"/>
              </a:defRPr>
            </a:lvl3pPr>
            <a:lvl4pPr marL="685800" indent="0" algn="ctr">
              <a:lnSpc>
                <a:spcPct val="75000"/>
              </a:lnSpc>
              <a:buNone/>
              <a:defRPr sz="4000" b="0">
                <a:solidFill>
                  <a:schemeClr val="tx2"/>
                </a:solidFill>
                <a:latin typeface="+mj-lt"/>
              </a:defRPr>
            </a:lvl4pPr>
            <a:lvl5pPr marL="914400" indent="0" algn="ctr">
              <a:lnSpc>
                <a:spcPct val="75000"/>
              </a:lnSpc>
              <a:buNone/>
              <a:defRPr sz="3600" b="0">
                <a:solidFill>
                  <a:schemeClr val="tx2"/>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2" y="6264164"/>
            <a:ext cx="1679642" cy="413360"/>
          </a:xfrm>
        </p:spPr>
        <p:txBody>
          <a:bodyPr/>
          <a:lstStyle>
            <a:lvl1pPr>
              <a:defRPr>
                <a:solidFill>
                  <a:schemeClr val="tx2"/>
                </a:solidFill>
              </a:defRPr>
            </a:lvl1pPr>
          </a:lstStyle>
          <a:p>
            <a:fld id="{66BE189A-7DFE-4578-A781-50D475212B90}" type="datetime1">
              <a:rPr lang="en-US" smtClean="0"/>
              <a:t>10/12/26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008063B-506A-41A1-A6EA-745A876C5191}"/>
              </a:ext>
            </a:extLst>
          </p:cNvPr>
          <p:cNvCxnSpPr>
            <a:cxnSpLocks/>
          </p:cNvCxnSpPr>
          <p:nvPr/>
        </p:nvCxnSpPr>
        <p:spPr>
          <a:xfrm>
            <a:off x="0" y="78162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2758C90-B148-7153-9C80-0F1076997894}"/>
              </a:ext>
            </a:extLst>
          </p:cNvPr>
          <p:cNvCxnSpPr>
            <a:cxnSpLocks/>
          </p:cNvCxnSpPr>
          <p:nvPr/>
        </p:nvCxnSpPr>
        <p:spPr>
          <a:xfrm>
            <a:off x="1693484"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5474C37-D361-EDB7-BCC5-35E1A6EC3D9B}"/>
              </a:ext>
            </a:extLst>
          </p:cNvPr>
          <p:cNvCxnSpPr>
            <a:cxnSpLocks/>
          </p:cNvCxnSpPr>
          <p:nvPr/>
        </p:nvCxnSpPr>
        <p:spPr>
          <a:xfrm>
            <a:off x="10491119"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0901390"/>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51725" y="1940090"/>
            <a:ext cx="10392476" cy="4614714"/>
          </a:xfrm>
        </p:spPr>
        <p:txBody>
          <a:bodyPr anchor="b">
            <a:noAutofit/>
          </a:bodyPr>
          <a:lstStyle>
            <a:lvl1pPr marL="0" indent="0">
              <a:lnSpc>
                <a:spcPct val="73000"/>
              </a:lnSpc>
              <a:buNone/>
              <a:defRPr sz="9600" b="0" cap="all" baseline="0">
                <a:solidFill>
                  <a:schemeClr val="tx2">
                    <a:lumMod val="75000"/>
                  </a:schemeClr>
                </a:solidFill>
                <a:latin typeface="+mj-lt"/>
              </a:defRPr>
            </a:lvl1pPr>
            <a:lvl2pPr marL="228600" indent="0">
              <a:lnSpc>
                <a:spcPct val="73000"/>
              </a:lnSpc>
              <a:buNone/>
              <a:defRPr sz="8800" b="0" cap="all" baseline="0">
                <a:solidFill>
                  <a:schemeClr val="tx2">
                    <a:lumMod val="75000"/>
                  </a:schemeClr>
                </a:solidFill>
                <a:latin typeface="+mj-lt"/>
              </a:defRPr>
            </a:lvl2pPr>
            <a:lvl3pPr marL="457200" indent="0">
              <a:lnSpc>
                <a:spcPct val="73000"/>
              </a:lnSpc>
              <a:buNone/>
              <a:defRPr sz="8000" b="0" cap="all" baseline="0">
                <a:solidFill>
                  <a:schemeClr val="tx2">
                    <a:lumMod val="75000"/>
                  </a:schemeClr>
                </a:solidFill>
                <a:latin typeface="+mj-lt"/>
              </a:defRPr>
            </a:lvl3pPr>
            <a:lvl4pPr marL="685800" indent="0">
              <a:lnSpc>
                <a:spcPct val="73000"/>
              </a:lnSpc>
              <a:buNone/>
              <a:defRPr sz="7200" b="0" cap="all" baseline="0">
                <a:solidFill>
                  <a:schemeClr val="tx2">
                    <a:lumMod val="75000"/>
                  </a:schemeClr>
                </a:solidFill>
                <a:latin typeface="+mj-lt"/>
              </a:defRPr>
            </a:lvl4pPr>
            <a:lvl5pPr marL="914400" indent="0">
              <a:lnSpc>
                <a:spcPct val="73000"/>
              </a:lnSpc>
              <a:buNone/>
              <a:defRPr sz="6600" b="0" cap="all" baseline="0">
                <a:solidFill>
                  <a:schemeClr val="tx2">
                    <a:lumMod val="75000"/>
                  </a:schemeClr>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lumMod val="90000"/>
                  </a:schemeClr>
                </a:solidFill>
              </a:defRPr>
            </a:lvl1p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lumMod val="90000"/>
                  </a:schemeClr>
                </a:solidFill>
              </a:defRPr>
            </a:lvl1pPr>
          </a:lstStyle>
          <a:p>
            <a:fld id="{386F9640-8612-4EBB-94A3-9F5B3C3C1651}" type="datetime1">
              <a:rPr lang="en-US" smtClean="0"/>
              <a:t>10/12/26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3EBBBFEC-32A4-8333-CEC0-6858CB1833EF}"/>
              </a:ext>
            </a:extLst>
          </p:cNvPr>
          <p:cNvCxnSpPr>
            <a:cxnSpLocks/>
          </p:cNvCxnSpPr>
          <p:nvPr/>
        </p:nvCxnSpPr>
        <p:spPr>
          <a:xfrm>
            <a:off x="0" y="789563"/>
            <a:ext cx="12192000" cy="0"/>
          </a:xfrm>
          <a:prstGeom prst="line">
            <a:avLst/>
          </a:prstGeom>
          <a:ln w="9525">
            <a:solidFill>
              <a:schemeClr val="tx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8178486"/>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tatem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23098" y="-1133856"/>
            <a:ext cx="10090646" cy="914400"/>
          </a:xfrm>
        </p:spPr>
        <p:txBody>
          <a:bodyPr/>
          <a:lstStyle>
            <a:lvl1pPr>
              <a:defRPr>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384048"/>
            <a:ext cx="10090646" cy="4783756"/>
          </a:xfrm>
        </p:spPr>
        <p:txBody>
          <a:bodyPr anchor="t">
            <a:noAutofit/>
          </a:bodyPr>
          <a:lstStyle>
            <a:lvl1pPr marL="0" indent="0">
              <a:lnSpc>
                <a:spcPct val="100000"/>
              </a:lnSpc>
              <a:buNone/>
              <a:defRPr sz="7200" b="0">
                <a:solidFill>
                  <a:schemeClr val="accent1"/>
                </a:solidFill>
              </a:defRPr>
            </a:lvl1pPr>
            <a:lvl2pPr marL="228600" indent="0">
              <a:lnSpc>
                <a:spcPct val="100000"/>
              </a:lnSpc>
              <a:buNone/>
              <a:defRPr sz="6600" b="0">
                <a:solidFill>
                  <a:schemeClr val="accent1"/>
                </a:solidFill>
              </a:defRPr>
            </a:lvl2pPr>
            <a:lvl3pPr marL="457200" indent="0">
              <a:lnSpc>
                <a:spcPct val="100000"/>
              </a:lnSpc>
              <a:buNone/>
              <a:defRPr sz="6000" b="0">
                <a:solidFill>
                  <a:schemeClr val="accent1"/>
                </a:solidFill>
              </a:defRPr>
            </a:lvl3pPr>
            <a:lvl4pPr marL="685800" indent="0">
              <a:lnSpc>
                <a:spcPct val="100000"/>
              </a:lnSpc>
              <a:buNone/>
              <a:defRPr sz="5400" b="0">
                <a:solidFill>
                  <a:schemeClr val="accent1"/>
                </a:solidFill>
              </a:defRPr>
            </a:lvl4pPr>
            <a:lvl5pPr marL="914400" indent="0">
              <a:lnSpc>
                <a:spcPct val="100000"/>
              </a:lnSpc>
              <a:buNone/>
              <a:defRPr sz="4800" b="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1" y="6264164"/>
            <a:ext cx="2486677" cy="413360"/>
          </a:xfrm>
        </p:spPr>
        <p:txBody>
          <a:bodyPr/>
          <a:lstStyle>
            <a:lvl1pPr>
              <a:defRPr>
                <a:solidFill>
                  <a:schemeClr val="tx2"/>
                </a:solidFill>
              </a:defRPr>
            </a:lvl1pPr>
          </a:lstStyle>
          <a:p>
            <a:fld id="{9A3EC378-394E-4653-8FC8-8296D202D659}" type="datetime1">
              <a:rPr lang="en-US" smtClean="0"/>
              <a:t>10/12/26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0510842"/>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15448BDD-274C-4BED-8350-833672089118}"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3412685"/>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obj"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90288" y="5232212"/>
            <a:ext cx="10515600" cy="749808"/>
          </a:xfrm>
        </p:spPr>
        <p:txBody>
          <a:bodyPr anchor="ctr">
            <a:normAutofit/>
          </a:bodyPr>
          <a:lstStyle>
            <a:lvl1pPr>
              <a:defRPr sz="1600" cap="all"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380011"/>
            <a:ext cx="9400032" cy="4164557"/>
          </a:xfrm>
        </p:spPr>
        <p:txBody>
          <a:bodyPr anchor="t">
            <a:normAutofit/>
          </a:bodyPr>
          <a:lstStyle>
            <a:lvl1pPr marL="274320" indent="-274320">
              <a:lnSpc>
                <a:spcPct val="80000"/>
              </a:lnSpc>
              <a:buNone/>
              <a:defRPr sz="6000" cap="none" baseline="0">
                <a:solidFill>
                  <a:schemeClr val="accent1"/>
                </a:solidFill>
                <a:latin typeface="+mj-lt"/>
              </a:defRPr>
            </a:lvl1pPr>
            <a:lvl2pPr marL="274320" indent="-274320">
              <a:lnSpc>
                <a:spcPct val="80000"/>
              </a:lnSpc>
              <a:buNone/>
              <a:defRPr sz="5400" cap="none" baseline="0">
                <a:solidFill>
                  <a:schemeClr val="accent1"/>
                </a:solidFill>
                <a:latin typeface="+mj-lt"/>
              </a:defRPr>
            </a:lvl2pPr>
            <a:lvl3pPr marL="274320" indent="-274320">
              <a:lnSpc>
                <a:spcPct val="80000"/>
              </a:lnSpc>
              <a:buNone/>
              <a:defRPr sz="4800" cap="none" baseline="0">
                <a:solidFill>
                  <a:schemeClr val="accent1"/>
                </a:solidFill>
                <a:latin typeface="+mj-lt"/>
              </a:defRPr>
            </a:lvl3pPr>
            <a:lvl4pPr marL="274320" indent="-274320">
              <a:lnSpc>
                <a:spcPct val="80000"/>
              </a:lnSpc>
              <a:buNone/>
              <a:defRPr sz="4400" cap="none" baseline="0">
                <a:solidFill>
                  <a:schemeClr val="accent1"/>
                </a:solidFill>
                <a:latin typeface="+mj-lt"/>
              </a:defRPr>
            </a:lvl4pPr>
            <a:lvl5pPr marL="274320" indent="-274320">
              <a:lnSpc>
                <a:spcPct val="80000"/>
              </a:lnSpc>
              <a:buNone/>
              <a:defRPr sz="4400" cap="none" baseline="0">
                <a:solidFill>
                  <a:schemeClr val="accent1"/>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90287" y="6263640"/>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63640"/>
            <a:ext cx="2151180" cy="411480"/>
          </a:xfrm>
        </p:spPr>
        <p:txBody>
          <a:bodyPr/>
          <a:lstStyle>
            <a:lvl1pPr>
              <a:defRPr>
                <a:solidFill>
                  <a:schemeClr val="tx2"/>
                </a:solidFill>
              </a:defRPr>
            </a:lvl1pPr>
          </a:lstStyle>
          <a:p>
            <a:fld id="{C5523C14-B8E0-486C-AF8F-4829635E6A50}"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12" name="Straight Connector 11">
            <a:extLst>
              <a:ext uri="{FF2B5EF4-FFF2-40B4-BE49-F238E27FC236}">
                <a16:creationId xmlns:a16="http://schemas.microsoft.com/office/drawing/2014/main" id="{AC9507B5-45FD-E0F8-4B50-156739F3ED87}"/>
              </a:ext>
            </a:extLst>
          </p:cNvPr>
          <p:cNvCxnSpPr>
            <a:cxnSpLocks/>
          </p:cNvCxnSpPr>
          <p:nvPr/>
        </p:nvCxnSpPr>
        <p:spPr>
          <a:xfrm>
            <a:off x="0" y="48627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05964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51105"/>
            <a:ext cx="9299448" cy="1005109"/>
          </a:xfrm>
        </p:spPr>
        <p:txBody>
          <a:bodyPr anchor="ctr">
            <a:normAutofit/>
          </a:bodyPr>
          <a:lstStyle>
            <a:lvl1pPr>
              <a:defRPr sz="2000" cap="none"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24712"/>
            <a:ext cx="9692640" cy="4187952"/>
          </a:xfrm>
        </p:spPr>
        <p:txBody>
          <a:bodyPr>
            <a:normAutofit/>
          </a:bodyPr>
          <a:lstStyle>
            <a:lvl1pPr marL="274320" indent="-274320">
              <a:lnSpc>
                <a:spcPct val="70000"/>
              </a:lnSpc>
              <a:buNone/>
              <a:defRPr sz="9600" cap="all" baseline="0">
                <a:solidFill>
                  <a:schemeClr val="tx2">
                    <a:lumMod val="75000"/>
                  </a:schemeClr>
                </a:solidFill>
                <a:latin typeface="+mj-lt"/>
              </a:defRPr>
            </a:lvl1pPr>
            <a:lvl2pPr marL="274320" indent="-274320">
              <a:lnSpc>
                <a:spcPct val="70000"/>
              </a:lnSpc>
              <a:buNone/>
              <a:defRPr sz="8800" cap="all" baseline="0">
                <a:solidFill>
                  <a:schemeClr val="accent2">
                    <a:lumMod val="20000"/>
                    <a:lumOff val="80000"/>
                  </a:schemeClr>
                </a:solidFill>
                <a:latin typeface="+mj-lt"/>
              </a:defRPr>
            </a:lvl2pPr>
            <a:lvl3pPr marL="274320" indent="-274320">
              <a:lnSpc>
                <a:spcPct val="70000"/>
              </a:lnSpc>
              <a:buNone/>
              <a:defRPr sz="8000" cap="all" baseline="0">
                <a:solidFill>
                  <a:schemeClr val="accent2">
                    <a:lumMod val="20000"/>
                    <a:lumOff val="80000"/>
                  </a:schemeClr>
                </a:solidFill>
                <a:latin typeface="+mj-lt"/>
              </a:defRPr>
            </a:lvl3pPr>
            <a:lvl4pPr marL="274320" indent="-274320">
              <a:lnSpc>
                <a:spcPct val="70000"/>
              </a:lnSpc>
              <a:buNone/>
              <a:defRPr sz="7200" cap="all" baseline="0">
                <a:solidFill>
                  <a:schemeClr val="accent2">
                    <a:lumMod val="20000"/>
                    <a:lumOff val="80000"/>
                  </a:schemeClr>
                </a:solidFill>
                <a:latin typeface="+mj-lt"/>
              </a:defRPr>
            </a:lvl4pPr>
            <a:lvl5pPr marL="274320" indent="-274320">
              <a:lnSpc>
                <a:spcPct val="70000"/>
              </a:lnSpc>
              <a:buNone/>
              <a:defRPr sz="7200" cap="all" baseline="0">
                <a:solidFill>
                  <a:schemeClr val="accent2">
                    <a:lumMod val="20000"/>
                    <a:lumOff val="80000"/>
                  </a:schemeClr>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44572B0E-9936-490C-85D7-20C76E88EE7A}"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182936"/>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obj" preserve="1">
  <p:cSld name="Quot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21900" y="5209160"/>
            <a:ext cx="10698480" cy="832104"/>
          </a:xfrm>
        </p:spPr>
        <p:txBody>
          <a:bodyPr anchor="ctr">
            <a:normAutofit/>
          </a:bodyPr>
          <a:lstStyle>
            <a:lvl1pPr>
              <a:defRPr sz="2800" cap="all" baseline="0">
                <a:solidFill>
                  <a:schemeClr val="accent1"/>
                </a:solidFill>
                <a:latin typeface="+mj-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749808"/>
            <a:ext cx="9400032" cy="3867912"/>
          </a:xfrm>
        </p:spPr>
        <p:txBody>
          <a:bodyPr>
            <a:normAutofit/>
          </a:bodyPr>
          <a:lstStyle>
            <a:lvl1pPr marL="182880" indent="-182880">
              <a:lnSpc>
                <a:spcPct val="100000"/>
              </a:lnSpc>
              <a:buNone/>
              <a:defRPr sz="4000" cap="none" baseline="0">
                <a:solidFill>
                  <a:schemeClr val="tx2"/>
                </a:solidFill>
                <a:latin typeface="+mn-lt"/>
              </a:defRPr>
            </a:lvl1pPr>
            <a:lvl2pPr marL="182880" indent="-182880">
              <a:lnSpc>
                <a:spcPct val="100000"/>
              </a:lnSpc>
              <a:buNone/>
              <a:defRPr sz="3600" cap="none" baseline="0">
                <a:solidFill>
                  <a:schemeClr val="tx2"/>
                </a:solidFill>
                <a:latin typeface="+mn-lt"/>
              </a:defRPr>
            </a:lvl2pPr>
            <a:lvl3pPr marL="182880" indent="-182880">
              <a:lnSpc>
                <a:spcPct val="100000"/>
              </a:lnSpc>
              <a:buNone/>
              <a:defRPr sz="3200" cap="none" baseline="0">
                <a:solidFill>
                  <a:schemeClr val="tx2"/>
                </a:solidFill>
                <a:latin typeface="+mn-lt"/>
              </a:defRPr>
            </a:lvl3pPr>
            <a:lvl4pPr marL="182880" indent="-182880">
              <a:lnSpc>
                <a:spcPct val="100000"/>
              </a:lnSpc>
              <a:buNone/>
              <a:defRPr sz="2800" cap="none" baseline="0">
                <a:solidFill>
                  <a:schemeClr val="tx2"/>
                </a:solidFill>
                <a:latin typeface="+mn-lt"/>
              </a:defRPr>
            </a:lvl4pPr>
            <a:lvl5pPr marL="182880" indent="-182880">
              <a:lnSpc>
                <a:spcPct val="100000"/>
              </a:lnSpc>
              <a:buNone/>
              <a:defRPr sz="2800" cap="none" baseline="0">
                <a:solidFill>
                  <a:schemeClr val="tx2"/>
                </a:solidFill>
                <a:latin typeface="+mn-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18ECF368-9FBC-4241-9AEA-ADD9AF02F7A8}"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E49C774-4A6A-D32B-59FA-2442E2B308E5}"/>
              </a:ext>
            </a:extLst>
          </p:cNvPr>
          <p:cNvCxnSpPr>
            <a:cxnSpLocks/>
          </p:cNvCxnSpPr>
          <p:nvPr/>
        </p:nvCxnSpPr>
        <p:spPr>
          <a:xfrm>
            <a:off x="0" y="5062769"/>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B23A142-B021-C473-CBA7-E0C9AA4E71D5}"/>
              </a:ext>
            </a:extLst>
          </p:cNvPr>
          <p:cNvCxnSpPr>
            <a:cxnSpLocks/>
          </p:cNvCxnSpPr>
          <p:nvPr/>
        </p:nvCxnSpPr>
        <p:spPr>
          <a:xfrm>
            <a:off x="0" y="6066955"/>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244848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r>
              <a:rPr lang="en-US"/>
              <a:t>Footer Text</a:t>
            </a:r>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fld id="{9EAD527F-9C49-4481-A18C-80BA2EA99E79}" type="datetime1">
              <a:rPr lang="en-US" smtClean="0"/>
              <a:t>10/12/26</a:t>
            </a:fld>
            <a:endParaRPr lang="en-US"/>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2987400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F38039EB-95FD-42A0-BF06-87A9D15142C9}" type="datetime1">
              <a:rPr lang="en-US" smtClean="0"/>
              <a:t>10/12/26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46434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r>
              <a:rPr lang="en-US"/>
              <a:t>Footer Text</a:t>
            </a:r>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fld id="{6819701D-AA71-4F6F-B74A-236E07E9ABE4}" type="datetime1">
              <a:rPr lang="en-US" smtClean="0"/>
              <a:t>10/12/26</a:t>
            </a:fld>
            <a:endParaRPr lang="en-US"/>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3915691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r>
              <a:rPr lang="en-US"/>
              <a:t>Footer Text</a:t>
            </a:r>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fld id="{A886D589-8B08-4190-9F3B-BA01ED2999CB}" type="datetime1">
              <a:rPr lang="en-US" smtClean="0"/>
              <a:t>10/12/26</a:t>
            </a:fld>
            <a:endParaRPr lang="en-US"/>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107859093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317774" y="1092200"/>
            <a:ext cx="3749040" cy="2907792"/>
          </a:xfrm>
        </p:spPr>
        <p:txBody>
          <a:bodyPr vert="horz" lIns="91440" tIns="45720" rIns="91440" bIns="45720" rtlCol="0" anchor="t">
            <a:normAutofit/>
          </a:bodyPr>
          <a:lstStyle>
            <a:lvl1pPr>
              <a:defRPr lang="en-US" sz="5400" dirty="0"/>
            </a:lvl1pPr>
          </a:lstStyle>
          <a:p>
            <a:pPr lvl="0"/>
            <a:r>
              <a:rPr lang="en-US"/>
              <a:t>Click to edit Master title style</a:t>
            </a:r>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a:t>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a:xfrm>
            <a:off x="4974336" y="207982"/>
            <a:ext cx="1921315" cy="413360"/>
          </a:xfrm>
        </p:spPr>
        <p:txBody>
          <a:bodyPr/>
          <a:lstStyle/>
          <a:p>
            <a:fld id="{F550E5DF-8560-4E07-A403-19861023D638}" type="datetime1">
              <a:rPr lang="en-US" smtClean="0"/>
              <a:t>10/12/26</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317774" y="4096512"/>
            <a:ext cx="3749040" cy="232257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4974336" y="1092200"/>
            <a:ext cx="6858000" cy="53400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718336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317773" y="1088136"/>
            <a:ext cx="3467048" cy="2905795"/>
          </a:xfrm>
        </p:spPr>
        <p:txBody>
          <a:bodyPr vert="horz" lIns="91440" tIns="45720" rIns="91440" bIns="45720" rtlCol="0" anchor="t">
            <a:normAutofit/>
          </a:bodyPr>
          <a:lstStyle>
            <a:lvl1pPr>
              <a:defRPr lang="en-US" sz="5400" dirty="0"/>
            </a:lvl1pPr>
          </a:lstStyle>
          <a:p>
            <a:pPr lvl="0"/>
            <a:r>
              <a:rPr lang="en-US"/>
              <a:t>Click to edit Master title style</a:t>
            </a:r>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a:t>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a:xfrm>
            <a:off x="4292854" y="207982"/>
            <a:ext cx="2605980" cy="413360"/>
          </a:xfrm>
        </p:spPr>
        <p:txBody>
          <a:bodyPr/>
          <a:lstStyle/>
          <a:p>
            <a:fld id="{5629972A-00A4-4626-8EEC-CE2966C6B0BF}" type="datetime1">
              <a:rPr lang="en-US" smtClean="0"/>
              <a:t>10/12/26</a:t>
            </a:fld>
            <a:endParaRPr lang="en-US"/>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317773" y="4099034"/>
            <a:ext cx="3467048" cy="2325621"/>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292853" y="793729"/>
            <a:ext cx="7899147" cy="6073107"/>
          </a:xfrm>
          <a:blipFill>
            <a:blip r:embed="rId2">
              <a:alphaModFix amt="8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cxnSp>
        <p:nvCxnSpPr>
          <p:cNvPr id="9" name="Straight Connector 8">
            <a:extLst>
              <a:ext uri="{FF2B5EF4-FFF2-40B4-BE49-F238E27FC236}">
                <a16:creationId xmlns:a16="http://schemas.microsoft.com/office/drawing/2014/main" id="{CA44ED1E-1404-EA59-99E6-D28F5236A529}"/>
              </a:ext>
            </a:extLst>
          </p:cNvPr>
          <p:cNvCxnSpPr>
            <a:cxnSpLocks/>
          </p:cNvCxnSpPr>
          <p:nvPr/>
        </p:nvCxnSpPr>
        <p:spPr>
          <a:xfrm>
            <a:off x="4292853"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335496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Conclusion">
    <p:bg>
      <p:bgRef idx="1001">
        <a:schemeClr val="bg2"/>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fld id="{12A08923-D58E-4822-B554-6A1173FCE25D}"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58475511"/>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F50BF9E0-60DA-4D6D-8F14-825F152220D6}" type="datetime1">
              <a:rPr lang="en-US" smtClean="0"/>
              <a:t>10/12/26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649627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18A4B20A-718A-4149-B5D2-676E857EB828}" type="datetime1">
              <a:rPr lang="en-US" smtClean="0"/>
              <a:t>10/12/26</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11280588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Lst>
  <p:hf hdr="0"/>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xml"/><Relationship Id="rId1" Type="http://schemas.openxmlformats.org/officeDocument/2006/relationships/slideLayout" Target="../slideLayouts/slideLayout54.xml"/><Relationship Id="rId4" Type="http://schemas.openxmlformats.org/officeDocument/2006/relationships/image" Target="../media/image8.jpe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54.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xml"/><Relationship Id="rId1" Type="http://schemas.openxmlformats.org/officeDocument/2006/relationships/slideLayout" Target="../slideLayouts/slideLayout54.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xml"/><Relationship Id="rId1" Type="http://schemas.openxmlformats.org/officeDocument/2006/relationships/slideLayout" Target="../slideLayouts/slideLayout54.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54.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54.xml"/><Relationship Id="rId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F0FC93C-492C-EFDD-2818-E79D24980358}"/>
              </a:ext>
            </a:extLst>
          </p:cNvPr>
          <p:cNvSpPr>
            <a:spLocks noGrp="1"/>
          </p:cNvSpPr>
          <p:nvPr>
            <p:ph type="ftr" sz="quarter" idx="11"/>
          </p:nvPr>
        </p:nvSpPr>
        <p:spPr/>
        <p:txBody>
          <a:bodyPr/>
          <a:lstStyle/>
          <a:p>
            <a:r>
              <a:rPr lang="en-US"/>
              <a:t>Footer Text</a:t>
            </a:r>
          </a:p>
        </p:txBody>
      </p:sp>
      <p:sp>
        <p:nvSpPr>
          <p:cNvPr id="4" name="Date Placeholder 3">
            <a:extLst>
              <a:ext uri="{FF2B5EF4-FFF2-40B4-BE49-F238E27FC236}">
                <a16:creationId xmlns:a16="http://schemas.microsoft.com/office/drawing/2014/main" id="{DD077216-3127-BB84-BD1C-F71C30F0A052}"/>
              </a:ext>
            </a:extLst>
          </p:cNvPr>
          <p:cNvSpPr>
            <a:spLocks noGrp="1"/>
          </p:cNvSpPr>
          <p:nvPr>
            <p:ph type="dt" sz="half" idx="10"/>
          </p:nvPr>
        </p:nvSpPr>
        <p:spPr/>
        <p:txBody>
          <a:bodyPr/>
          <a:lstStyle/>
          <a:p>
            <a:fld id="{9EAD527F-9C49-4481-A18C-80BA2EA99E79}" type="datetime1">
              <a:rPr lang="en-US" smtClean="0"/>
              <a:t>10/12/26</a:t>
            </a:fld>
            <a:endParaRPr lang="en-US"/>
          </a:p>
        </p:txBody>
      </p:sp>
      <p:sp>
        <p:nvSpPr>
          <p:cNvPr id="5" name="Slide Number Placeholder 4">
            <a:extLst>
              <a:ext uri="{FF2B5EF4-FFF2-40B4-BE49-F238E27FC236}">
                <a16:creationId xmlns:a16="http://schemas.microsoft.com/office/drawing/2014/main" id="{F994D5C7-ABF9-043A-EF44-EB64C50A4E05}"/>
              </a:ext>
            </a:extLst>
          </p:cNvPr>
          <p:cNvSpPr>
            <a:spLocks noGrp="1"/>
          </p:cNvSpPr>
          <p:nvPr>
            <p:ph type="sldNum" sz="quarter" idx="12"/>
          </p:nvPr>
        </p:nvSpPr>
        <p:spPr/>
        <p:txBody>
          <a:bodyPr/>
          <a:lstStyle/>
          <a:p>
            <a:fld id="{753D0FD4-819D-4187-8797-C35567B41C78}" type="slidenum">
              <a:rPr lang="en-US" smtClean="0"/>
              <a:t>1</a:t>
            </a:fld>
            <a:endParaRPr lang="en-US"/>
          </a:p>
        </p:txBody>
      </p:sp>
      <p:pic>
        <p:nvPicPr>
          <p:cNvPr id="8" name="Content Placeholder 7">
            <a:extLst>
              <a:ext uri="{FF2B5EF4-FFF2-40B4-BE49-F238E27FC236}">
                <a16:creationId xmlns:a16="http://schemas.microsoft.com/office/drawing/2014/main" id="{2D0B7180-0B4E-41B5-815E-B500E301A3FD}"/>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10" name="TextBox 9">
            <a:extLst>
              <a:ext uri="{FF2B5EF4-FFF2-40B4-BE49-F238E27FC236}">
                <a16:creationId xmlns:a16="http://schemas.microsoft.com/office/drawing/2014/main" id="{BA75E52E-925E-49FA-871E-90BB010ED0A7}"/>
              </a:ext>
            </a:extLst>
          </p:cNvPr>
          <p:cNvSpPr txBox="1"/>
          <p:nvPr/>
        </p:nvSpPr>
        <p:spPr>
          <a:xfrm>
            <a:off x="619125" y="618099"/>
            <a:ext cx="10175297" cy="1299328"/>
          </a:xfrm>
          <a:prstGeom prst="rect">
            <a:avLst/>
          </a:prstGeom>
          <a:noFill/>
        </p:spPr>
        <p:txBody>
          <a:bodyPr wrap="square" lIns="91440" tIns="45720" rIns="91440" bIns="45720" rtlCol="0" anchor="t">
            <a:normAutofit fontScale="92500" lnSpcReduction="20000"/>
          </a:bodyPr>
          <a:lstStyle/>
          <a:p>
            <a:r>
              <a:rPr sz="4800" b="0">
                <a:solidFill>
                  <a:srgbClr val="105237"/>
                </a:solidFill>
                <a:effectLst/>
                <a:latin typeface="Avenir Next LT Pro"/>
              </a:rPr>
              <a:t>AI Property Matchmaker</a:t>
            </a:r>
            <a:r>
              <a:rPr lang="en-US" sz="4800">
                <a:solidFill>
                  <a:srgbClr val="105237"/>
                </a:solidFill>
                <a:latin typeface="Avenir Next LT Pro"/>
              </a:rPr>
              <a:t> for brokers</a:t>
            </a:r>
            <a:r>
              <a:rPr sz="4800" b="0">
                <a:solidFill>
                  <a:srgbClr val="105237"/>
                </a:solidFill>
                <a:effectLst/>
                <a:latin typeface="Avenir Next LT Pro"/>
              </a:rPr>
              <a:t>: </a:t>
            </a:r>
            <a:endParaRPr lang="en-US">
              <a:solidFill>
                <a:srgbClr val="000000"/>
              </a:solidFill>
              <a:latin typeface="Avenir Next LT Pro"/>
            </a:endParaRPr>
          </a:p>
          <a:p>
            <a:r>
              <a:rPr lang="en-US" sz="2800">
                <a:solidFill>
                  <a:srgbClr val="105237"/>
                </a:solidFill>
                <a:latin typeface="Avenir Next LT Pro"/>
              </a:rPr>
              <a:t>Intent-driven guidance for confident property recommendations to the customers.</a:t>
            </a:r>
            <a:endParaRPr lang="en-US" sz="2800" err="1">
              <a:solidFill>
                <a:srgbClr val="000000"/>
              </a:solidFill>
              <a:latin typeface="Avenir Next LT Pro"/>
            </a:endParaRPr>
          </a:p>
        </p:txBody>
      </p:sp>
      <p:pic>
        <p:nvPicPr>
          <p:cNvPr id="7" name="Picture 6">
            <a:extLst>
              <a:ext uri="{FF2B5EF4-FFF2-40B4-BE49-F238E27FC236}">
                <a16:creationId xmlns:a16="http://schemas.microsoft.com/office/drawing/2014/main" id="{B3BD1A1B-36B4-A52A-AC5D-3D57C4B40A35}"/>
              </a:ext>
            </a:extLst>
          </p:cNvPr>
          <p:cNvPicPr>
            <a:picLocks noChangeAspect="1"/>
          </p:cNvPicPr>
          <p:nvPr/>
        </p:nvPicPr>
        <p:blipFill>
          <a:blip r:embed="rId4"/>
          <a:stretch>
            <a:fillRect/>
          </a:stretch>
        </p:blipFill>
        <p:spPr>
          <a:xfrm>
            <a:off x="4586994" y="1997605"/>
            <a:ext cx="2235778" cy="4476750"/>
          </a:xfrm>
          <a:prstGeom prst="rect">
            <a:avLst/>
          </a:prstGeom>
        </p:spPr>
      </p:pic>
    </p:spTree>
    <p:extLst>
      <p:ext uri="{BB962C8B-B14F-4D97-AF65-F5344CB8AC3E}">
        <p14:creationId xmlns:p14="http://schemas.microsoft.com/office/powerpoint/2010/main" val="1353162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3AE81F7-5538-D2FE-1996-855DFAED0EB8}"/>
              </a:ext>
            </a:extLst>
          </p:cNvPr>
          <p:cNvSpPr>
            <a:spLocks noGrp="1"/>
          </p:cNvSpPr>
          <p:nvPr>
            <p:ph type="ftr" sz="quarter" idx="11"/>
          </p:nvPr>
        </p:nvSpPr>
        <p:spPr/>
        <p:txBody>
          <a:bodyPr/>
          <a:lstStyle/>
          <a:p>
            <a:r>
              <a:rPr lang="en-US"/>
              <a:t>Footer Text</a:t>
            </a:r>
          </a:p>
        </p:txBody>
      </p:sp>
      <p:sp>
        <p:nvSpPr>
          <p:cNvPr id="4" name="Date Placeholder 3">
            <a:extLst>
              <a:ext uri="{FF2B5EF4-FFF2-40B4-BE49-F238E27FC236}">
                <a16:creationId xmlns:a16="http://schemas.microsoft.com/office/drawing/2014/main" id="{32B81BC1-8C18-413C-DF10-914D70C7B6EC}"/>
              </a:ext>
            </a:extLst>
          </p:cNvPr>
          <p:cNvSpPr>
            <a:spLocks noGrp="1"/>
          </p:cNvSpPr>
          <p:nvPr>
            <p:ph type="dt" sz="half" idx="10"/>
          </p:nvPr>
        </p:nvSpPr>
        <p:spPr/>
        <p:txBody>
          <a:bodyPr/>
          <a:lstStyle/>
          <a:p>
            <a:fld id="{9EAD527F-9C49-4481-A18C-80BA2EA99E79}" type="datetime1">
              <a:rPr lang="en-US" smtClean="0"/>
              <a:t>10/12/26</a:t>
            </a:fld>
            <a:endParaRPr lang="en-US"/>
          </a:p>
        </p:txBody>
      </p:sp>
      <p:sp>
        <p:nvSpPr>
          <p:cNvPr id="5" name="Slide Number Placeholder 4">
            <a:extLst>
              <a:ext uri="{FF2B5EF4-FFF2-40B4-BE49-F238E27FC236}">
                <a16:creationId xmlns:a16="http://schemas.microsoft.com/office/drawing/2014/main" id="{2A27A333-E989-2BFB-C515-AA2963704828}"/>
              </a:ext>
            </a:extLst>
          </p:cNvPr>
          <p:cNvSpPr>
            <a:spLocks noGrp="1"/>
          </p:cNvSpPr>
          <p:nvPr>
            <p:ph type="sldNum" sz="quarter" idx="12"/>
          </p:nvPr>
        </p:nvSpPr>
        <p:spPr/>
        <p:txBody>
          <a:bodyPr/>
          <a:lstStyle/>
          <a:p>
            <a:fld id="{753D0FD4-819D-4187-8797-C35567B41C78}" type="slidenum">
              <a:rPr lang="en-US" smtClean="0"/>
              <a:t>2</a:t>
            </a:fld>
            <a:endParaRPr lang="en-US"/>
          </a:p>
        </p:txBody>
      </p:sp>
      <p:pic>
        <p:nvPicPr>
          <p:cNvPr id="8" name="Content Placeholder 7">
            <a:extLst>
              <a:ext uri="{FF2B5EF4-FFF2-40B4-BE49-F238E27FC236}">
                <a16:creationId xmlns:a16="http://schemas.microsoft.com/office/drawing/2014/main" id="{9BCC3DFA-2285-474E-B74A-3F151107C47F}"/>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2" name="Picture 1">
            <a:extLst>
              <a:ext uri="{FF2B5EF4-FFF2-40B4-BE49-F238E27FC236}">
                <a16:creationId xmlns:a16="http://schemas.microsoft.com/office/drawing/2014/main" id="{23F9315F-B0D3-4302-3C9E-71992FFE5154}"/>
              </a:ext>
            </a:extLst>
          </p:cNvPr>
          <p:cNvPicPr>
            <a:picLocks noChangeAspect="1"/>
          </p:cNvPicPr>
          <p:nvPr/>
        </p:nvPicPr>
        <p:blipFill>
          <a:blip r:embed="rId4"/>
          <a:stretch>
            <a:fillRect/>
          </a:stretch>
        </p:blipFill>
        <p:spPr>
          <a:xfrm>
            <a:off x="6014213" y="805971"/>
            <a:ext cx="5904499" cy="2994072"/>
          </a:xfrm>
          <a:prstGeom prst="rect">
            <a:avLst/>
          </a:prstGeom>
        </p:spPr>
      </p:pic>
      <p:sp>
        <p:nvSpPr>
          <p:cNvPr id="6" name="Content Placeholder 6">
            <a:extLst>
              <a:ext uri="{FF2B5EF4-FFF2-40B4-BE49-F238E27FC236}">
                <a16:creationId xmlns:a16="http://schemas.microsoft.com/office/drawing/2014/main" id="{24F2D4B2-C4D8-0FCB-A90E-5D129BB2FE09}"/>
              </a:ext>
            </a:extLst>
          </p:cNvPr>
          <p:cNvSpPr>
            <a:spLocks noGrp="1"/>
          </p:cNvSpPr>
          <p:nvPr>
            <p:ph sz="half" idx="2"/>
          </p:nvPr>
        </p:nvSpPr>
        <p:spPr>
          <a:xfrm>
            <a:off x="841545" y="506231"/>
            <a:ext cx="3073127" cy="602538"/>
          </a:xfrm>
        </p:spPr>
        <p:txBody>
          <a:bodyPr vert="horz" lIns="91440" tIns="45720" rIns="91440" bIns="45720" rtlCol="0" anchor="t">
            <a:normAutofit/>
          </a:bodyPr>
          <a:lstStyle/>
          <a:p>
            <a:pPr marL="0" marR="0" indent="0" algn="l" fontAlgn="b">
              <a:buNone/>
            </a:pPr>
            <a:r>
              <a:rPr sz="2600" b="0">
                <a:solidFill>
                  <a:schemeClr val="tx1"/>
                </a:solidFill>
                <a:effectLst/>
                <a:latin typeface="Avenir Next LT Pro"/>
              </a:rPr>
              <a:t>The Core Problem</a:t>
            </a:r>
            <a:r>
              <a:rPr sz="2600">
                <a:solidFill>
                  <a:schemeClr val="tx1"/>
                </a:solidFill>
                <a:effectLst/>
              </a:rPr>
              <a:t> </a:t>
            </a:r>
            <a:endParaRPr lang="en-US" sz="2600">
              <a:solidFill>
                <a:schemeClr val="tx1"/>
              </a:solidFill>
            </a:endParaRPr>
          </a:p>
        </p:txBody>
      </p:sp>
      <p:sp>
        <p:nvSpPr>
          <p:cNvPr id="7" name="TextBox 6">
            <a:extLst>
              <a:ext uri="{FF2B5EF4-FFF2-40B4-BE49-F238E27FC236}">
                <a16:creationId xmlns:a16="http://schemas.microsoft.com/office/drawing/2014/main" id="{6D6F0FD0-1C51-F297-E188-DBF7DBEBE28A}"/>
              </a:ext>
            </a:extLst>
          </p:cNvPr>
          <p:cNvSpPr txBox="1"/>
          <p:nvPr/>
        </p:nvSpPr>
        <p:spPr>
          <a:xfrm>
            <a:off x="865909" y="1714500"/>
            <a:ext cx="7243329" cy="38472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rade Gothic Next Rounded"/>
              </a:rPr>
              <a:t>1. Commission-Driven Decisions</a:t>
            </a:r>
          </a:p>
          <a:p>
            <a:pPr>
              <a:buFont typeface=""/>
              <a:buChar char="•"/>
            </a:pPr>
            <a:r>
              <a:rPr lang="en-US" sz="1400">
                <a:latin typeface="Trade Gothic Next Rounded"/>
              </a:rPr>
              <a:t>Brokers often prefer listings with higher payouts </a:t>
            </a:r>
          </a:p>
          <a:p>
            <a:pPr>
              <a:buFont typeface=""/>
              <a:buChar char="•"/>
            </a:pPr>
            <a:r>
              <a:rPr lang="en-US" sz="1400">
                <a:latin typeface="Trade Gothic Next Rounded"/>
              </a:rPr>
              <a:t>Customer needs take a back seat </a:t>
            </a:r>
          </a:p>
          <a:p>
            <a:pPr>
              <a:buFont typeface=""/>
              <a:buChar char="•"/>
            </a:pPr>
            <a:endParaRPr lang="en-US" sz="1400">
              <a:latin typeface="Trade Gothic Next Rounded"/>
            </a:endParaRPr>
          </a:p>
          <a:p>
            <a:r>
              <a:rPr lang="en-US" b="1">
                <a:latin typeface="Trade Gothic Next Rounded"/>
              </a:rPr>
              <a:t>2. Limited Knowledge</a:t>
            </a:r>
          </a:p>
          <a:p>
            <a:pPr>
              <a:buFont typeface=""/>
              <a:buChar char="•"/>
            </a:pPr>
            <a:r>
              <a:rPr lang="en-US" sz="1400">
                <a:latin typeface="Trade Gothic Next Rounded"/>
              </a:rPr>
              <a:t>Brokers rely on their own limited neighborhood expertise </a:t>
            </a:r>
          </a:p>
          <a:p>
            <a:pPr>
              <a:buFont typeface=""/>
              <a:buChar char="•"/>
            </a:pPr>
            <a:r>
              <a:rPr lang="en-US" sz="1400">
                <a:latin typeface="Trade Gothic Next Rounded"/>
              </a:rPr>
              <a:t>Many new or better‑fit properties stay undiscovered </a:t>
            </a:r>
          </a:p>
          <a:p>
            <a:pPr>
              <a:buFont typeface=""/>
              <a:buChar char="•"/>
            </a:pPr>
            <a:endParaRPr lang="en-US" sz="1400">
              <a:latin typeface="Trade Gothic Next Rounded"/>
            </a:endParaRPr>
          </a:p>
          <a:p>
            <a:r>
              <a:rPr lang="en-US" b="1">
                <a:latin typeface="Trade Gothic Next Rounded"/>
              </a:rPr>
              <a:t>3. Human Shortcuts</a:t>
            </a:r>
          </a:p>
          <a:p>
            <a:pPr>
              <a:buFont typeface=""/>
              <a:buChar char="•"/>
            </a:pPr>
            <a:r>
              <a:rPr lang="en-US" sz="1400">
                <a:latin typeface="Trade Gothic Next Rounded"/>
              </a:rPr>
              <a:t>Assumptions about customer budgets, family needs, or lifestyle </a:t>
            </a:r>
          </a:p>
          <a:p>
            <a:pPr>
              <a:buFont typeface=""/>
              <a:buChar char="•"/>
            </a:pPr>
            <a:r>
              <a:rPr lang="en-US" sz="1400">
                <a:latin typeface="Trade Gothic Next Rounded"/>
              </a:rPr>
              <a:t>Leads to stereotyping and mismatched recommendations </a:t>
            </a:r>
          </a:p>
          <a:p>
            <a:pPr>
              <a:buFont typeface=""/>
              <a:buChar char="•"/>
            </a:pPr>
            <a:endParaRPr lang="en-US" sz="1400">
              <a:latin typeface="Trade Gothic Next Rounded"/>
            </a:endParaRPr>
          </a:p>
          <a:p>
            <a:r>
              <a:rPr lang="en-US" b="1">
                <a:latin typeface="Trade Gothic Next Rounded"/>
              </a:rPr>
              <a:t>4. Inventory Pressure</a:t>
            </a:r>
          </a:p>
          <a:p>
            <a:pPr>
              <a:buFont typeface=""/>
              <a:buChar char="•"/>
            </a:pPr>
            <a:r>
              <a:rPr lang="en-US" sz="1400">
                <a:latin typeface="Trade Gothic Next Rounded"/>
              </a:rPr>
              <a:t>Developers push brokers to sell specific properties </a:t>
            </a:r>
          </a:p>
          <a:p>
            <a:pPr>
              <a:buFont typeface=""/>
              <a:buChar char="•"/>
            </a:pPr>
            <a:r>
              <a:rPr lang="en-US" sz="1400">
                <a:latin typeface="Trade Gothic Next Rounded"/>
              </a:rPr>
              <a:t>Customers receive filtered, not optimal, choices </a:t>
            </a:r>
          </a:p>
          <a:p>
            <a:pPr algn="ctr"/>
            <a:endParaRPr lang="en-US">
              <a:latin typeface="Trade Gothic Next Rounded"/>
            </a:endParaRPr>
          </a:p>
        </p:txBody>
      </p:sp>
      <p:sp>
        <p:nvSpPr>
          <p:cNvPr id="12" name="TextBox 11">
            <a:extLst>
              <a:ext uri="{FF2B5EF4-FFF2-40B4-BE49-F238E27FC236}">
                <a16:creationId xmlns:a16="http://schemas.microsoft.com/office/drawing/2014/main" id="{728C5328-E02B-E217-1E71-F3D7C577E306}"/>
              </a:ext>
            </a:extLst>
          </p:cNvPr>
          <p:cNvSpPr txBox="1"/>
          <p:nvPr/>
        </p:nvSpPr>
        <p:spPr>
          <a:xfrm>
            <a:off x="978477" y="1225262"/>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0">
                <a:latin typeface="Trade Gothic Next Light"/>
                <a:ea typeface="Segoe UI"/>
                <a:cs typeface="Segoe UI"/>
              </a:rPr>
              <a:t>Broker Bias in Property </a:t>
            </a:r>
            <a:r>
              <a:rPr lang="en-US" b="1">
                <a:latin typeface="Trade Gothic Next Light"/>
                <a:ea typeface="Segoe UI"/>
                <a:cs typeface="Segoe UI"/>
              </a:rPr>
              <a:t>Recommendations</a:t>
            </a:r>
            <a:endParaRPr lang="en-US" b="1">
              <a:latin typeface="Trade Gothic Next Light"/>
            </a:endParaRPr>
          </a:p>
        </p:txBody>
      </p:sp>
    </p:spTree>
    <p:extLst>
      <p:ext uri="{BB962C8B-B14F-4D97-AF65-F5344CB8AC3E}">
        <p14:creationId xmlns:p14="http://schemas.microsoft.com/office/powerpoint/2010/main" val="1084843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9F29786-4916-C250-A9EA-8133F8C2EDDF}"/>
              </a:ext>
            </a:extLst>
          </p:cNvPr>
          <p:cNvSpPr>
            <a:spLocks noGrp="1"/>
          </p:cNvSpPr>
          <p:nvPr>
            <p:ph type="ftr" sz="quarter" idx="11"/>
          </p:nvPr>
        </p:nvSpPr>
        <p:spPr/>
        <p:txBody>
          <a:bodyPr/>
          <a:lstStyle/>
          <a:p>
            <a:r>
              <a:rPr lang="en-US"/>
              <a:t>Footer Text</a:t>
            </a:r>
          </a:p>
        </p:txBody>
      </p:sp>
      <p:sp>
        <p:nvSpPr>
          <p:cNvPr id="4" name="Date Placeholder 3">
            <a:extLst>
              <a:ext uri="{FF2B5EF4-FFF2-40B4-BE49-F238E27FC236}">
                <a16:creationId xmlns:a16="http://schemas.microsoft.com/office/drawing/2014/main" id="{5A56BB6C-15AB-23BD-C402-91FB3994BDFA}"/>
              </a:ext>
            </a:extLst>
          </p:cNvPr>
          <p:cNvSpPr>
            <a:spLocks noGrp="1"/>
          </p:cNvSpPr>
          <p:nvPr>
            <p:ph type="dt" sz="half" idx="10"/>
          </p:nvPr>
        </p:nvSpPr>
        <p:spPr/>
        <p:txBody>
          <a:bodyPr/>
          <a:lstStyle/>
          <a:p>
            <a:fld id="{9EAD527F-9C49-4481-A18C-80BA2EA99E79}" type="datetime1">
              <a:rPr lang="en-US" smtClean="0"/>
              <a:t>10/12/26</a:t>
            </a:fld>
            <a:endParaRPr lang="en-US"/>
          </a:p>
        </p:txBody>
      </p:sp>
      <p:sp>
        <p:nvSpPr>
          <p:cNvPr id="5" name="Slide Number Placeholder 4">
            <a:extLst>
              <a:ext uri="{FF2B5EF4-FFF2-40B4-BE49-F238E27FC236}">
                <a16:creationId xmlns:a16="http://schemas.microsoft.com/office/drawing/2014/main" id="{DA7825C5-3C7C-2021-F52C-52CED914886B}"/>
              </a:ext>
            </a:extLst>
          </p:cNvPr>
          <p:cNvSpPr>
            <a:spLocks noGrp="1"/>
          </p:cNvSpPr>
          <p:nvPr>
            <p:ph type="sldNum" sz="quarter" idx="12"/>
          </p:nvPr>
        </p:nvSpPr>
        <p:spPr/>
        <p:txBody>
          <a:bodyPr/>
          <a:lstStyle/>
          <a:p>
            <a:fld id="{753D0FD4-819D-4187-8797-C35567B41C78}" type="slidenum">
              <a:rPr lang="en-US" smtClean="0"/>
              <a:t>3</a:t>
            </a:fld>
            <a:endParaRPr lang="en-US"/>
          </a:p>
        </p:txBody>
      </p:sp>
      <p:pic>
        <p:nvPicPr>
          <p:cNvPr id="8" name="Content Placeholder 7">
            <a:extLst>
              <a:ext uri="{FF2B5EF4-FFF2-40B4-BE49-F238E27FC236}">
                <a16:creationId xmlns:a16="http://schemas.microsoft.com/office/drawing/2014/main" id="{E4E6631F-09EA-44DB-8448-BA325A52844D}"/>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10" name="TextBox 9">
            <a:extLst>
              <a:ext uri="{FF2B5EF4-FFF2-40B4-BE49-F238E27FC236}">
                <a16:creationId xmlns:a16="http://schemas.microsoft.com/office/drawing/2014/main" id="{5E3B3899-7616-4BD0-9A04-E33D9A2F5ED3}"/>
              </a:ext>
            </a:extLst>
          </p:cNvPr>
          <p:cNvSpPr txBox="1"/>
          <p:nvPr/>
        </p:nvSpPr>
        <p:spPr>
          <a:xfrm>
            <a:off x="360745" y="705400"/>
            <a:ext cx="4391025" cy="1005780"/>
          </a:xfrm>
          <a:prstGeom prst="rect">
            <a:avLst/>
          </a:prstGeom>
          <a:noFill/>
        </p:spPr>
        <p:txBody>
          <a:bodyPr wrap="square" lIns="91440" tIns="45720" rIns="91440" bIns="45720" rtlCol="0" anchor="t">
            <a:noAutofit/>
          </a:bodyPr>
          <a:lstStyle/>
          <a:p>
            <a:pPr marL="0" algn="l">
              <a:buNone/>
            </a:pPr>
            <a:r>
              <a:rPr sz="2000">
                <a:solidFill>
                  <a:srgbClr val="105237"/>
                </a:solidFill>
                <a:effectLst/>
                <a:latin typeface="Trade Gothic Next Light"/>
              </a:rPr>
              <a:t>From Filters to Intent Matching </a:t>
            </a:r>
            <a:endParaRPr lang="en-US" sz="2000">
              <a:latin typeface="Trade Gothic Next Light"/>
            </a:endParaRPr>
          </a:p>
        </p:txBody>
      </p:sp>
      <p:sp>
        <p:nvSpPr>
          <p:cNvPr id="11" name="TextBox 10">
            <a:extLst>
              <a:ext uri="{FF2B5EF4-FFF2-40B4-BE49-F238E27FC236}">
                <a16:creationId xmlns:a16="http://schemas.microsoft.com/office/drawing/2014/main" id="{F259EAC7-134B-41D9-9F6E-00F65DE1CF40}"/>
              </a:ext>
            </a:extLst>
          </p:cNvPr>
          <p:cNvSpPr txBox="1"/>
          <p:nvPr/>
        </p:nvSpPr>
        <p:spPr>
          <a:xfrm>
            <a:off x="391401" y="1318356"/>
            <a:ext cx="4391025" cy="217140"/>
          </a:xfrm>
          <a:prstGeom prst="rect">
            <a:avLst/>
          </a:prstGeom>
          <a:noFill/>
        </p:spPr>
        <p:txBody>
          <a:bodyPr wrap="square" lIns="91440" tIns="45720" rIns="91440" bIns="45720" rtlCol="0" anchor="t">
            <a:noAutofit/>
          </a:bodyPr>
          <a:lstStyle/>
          <a:p>
            <a:pPr marL="0" algn="l">
              <a:buNone/>
            </a:pPr>
            <a:r>
              <a:rPr sz="1600" b="1">
                <a:solidFill>
                  <a:srgbClr val="105237"/>
                </a:solidFill>
                <a:effectLst/>
                <a:latin typeface="Trade Gothic Next Rounded"/>
              </a:rPr>
              <a:t>Filters miss real motivations </a:t>
            </a:r>
            <a:endParaRPr lang="en-US" sz="1600">
              <a:latin typeface="Trade Gothic Next Rounded"/>
            </a:endParaRPr>
          </a:p>
        </p:txBody>
      </p:sp>
      <p:sp>
        <p:nvSpPr>
          <p:cNvPr id="12" name="TextBox 11">
            <a:extLst>
              <a:ext uri="{FF2B5EF4-FFF2-40B4-BE49-F238E27FC236}">
                <a16:creationId xmlns:a16="http://schemas.microsoft.com/office/drawing/2014/main" id="{5592560F-381F-404C-82ED-BB061B9FE7AF}"/>
              </a:ext>
            </a:extLst>
          </p:cNvPr>
          <p:cNvSpPr txBox="1"/>
          <p:nvPr/>
        </p:nvSpPr>
        <p:spPr>
          <a:xfrm>
            <a:off x="391401" y="1630746"/>
            <a:ext cx="4391025" cy="651420"/>
          </a:xfrm>
          <a:prstGeom prst="rect">
            <a:avLst/>
          </a:prstGeom>
          <a:noFill/>
        </p:spPr>
        <p:txBody>
          <a:bodyPr wrap="square" lIns="91440" tIns="45720" rIns="91440" bIns="45720" rtlCol="0" anchor="t">
            <a:noAutofit/>
          </a:bodyPr>
          <a:lstStyle/>
          <a:p>
            <a:pPr marL="0" marR="0" algn="l">
              <a:spcBef>
                <a:spcPts val="750"/>
              </a:spcBef>
              <a:buNone/>
            </a:pPr>
            <a:r>
              <a:rPr sz="1400" b="0" dirty="0">
                <a:solidFill>
                  <a:srgbClr val="105237"/>
                </a:solidFill>
                <a:effectLst/>
                <a:latin typeface="Trade Gothic Next Light"/>
              </a:rPr>
              <a:t>Price, beds, and radius don’t capture emotion, risk tolerance, future plans, or personal values behind a life decision. </a:t>
            </a:r>
            <a:endParaRPr lang="en-US" sz="1400" dirty="0">
              <a:solidFill>
                <a:srgbClr val="105237"/>
              </a:solidFill>
              <a:latin typeface="Trade Gothic Next Light"/>
            </a:endParaRPr>
          </a:p>
        </p:txBody>
      </p:sp>
      <p:sp>
        <p:nvSpPr>
          <p:cNvPr id="13" name="TextBox 12">
            <a:extLst>
              <a:ext uri="{FF2B5EF4-FFF2-40B4-BE49-F238E27FC236}">
                <a16:creationId xmlns:a16="http://schemas.microsoft.com/office/drawing/2014/main" id="{5703F760-26E8-4A24-A078-7E9A95CF9C5D}"/>
              </a:ext>
            </a:extLst>
          </p:cNvPr>
          <p:cNvSpPr txBox="1"/>
          <p:nvPr/>
        </p:nvSpPr>
        <p:spPr>
          <a:xfrm>
            <a:off x="391401" y="2415517"/>
            <a:ext cx="4391025" cy="217140"/>
          </a:xfrm>
          <a:prstGeom prst="rect">
            <a:avLst/>
          </a:prstGeom>
          <a:noFill/>
        </p:spPr>
        <p:txBody>
          <a:bodyPr wrap="square" lIns="91440" tIns="45720" rIns="91440" bIns="45720" rtlCol="0" anchor="t">
            <a:noAutofit/>
          </a:bodyPr>
          <a:lstStyle/>
          <a:p>
            <a:pPr marL="0" marR="0" algn="l">
              <a:spcBef>
                <a:spcPts val="1050"/>
              </a:spcBef>
              <a:buNone/>
            </a:pPr>
            <a:r>
              <a:rPr sz="1600" b="1">
                <a:solidFill>
                  <a:srgbClr val="105237"/>
                </a:solidFill>
                <a:effectLst/>
                <a:latin typeface="Trade Gothic Next Rounded"/>
              </a:rPr>
              <a:t>Start with intent, not checkboxes </a:t>
            </a:r>
            <a:endParaRPr lang="en-US" sz="1600">
              <a:latin typeface="Trade Gothic Next Rounded"/>
            </a:endParaRPr>
          </a:p>
        </p:txBody>
      </p:sp>
      <p:sp>
        <p:nvSpPr>
          <p:cNvPr id="14" name="TextBox 13">
            <a:extLst>
              <a:ext uri="{FF2B5EF4-FFF2-40B4-BE49-F238E27FC236}">
                <a16:creationId xmlns:a16="http://schemas.microsoft.com/office/drawing/2014/main" id="{AB3962F0-B4E8-4D5F-B65C-E9D43C8926CA}"/>
              </a:ext>
            </a:extLst>
          </p:cNvPr>
          <p:cNvSpPr txBox="1"/>
          <p:nvPr/>
        </p:nvSpPr>
        <p:spPr>
          <a:xfrm>
            <a:off x="391401" y="2727907"/>
            <a:ext cx="4391025" cy="651420"/>
          </a:xfrm>
          <a:prstGeom prst="rect">
            <a:avLst/>
          </a:prstGeom>
          <a:noFill/>
        </p:spPr>
        <p:txBody>
          <a:bodyPr wrap="square" lIns="91440" tIns="45720" rIns="91440" bIns="45720" rtlCol="0" anchor="t">
            <a:noAutofit/>
          </a:bodyPr>
          <a:lstStyle/>
          <a:p>
            <a:pPr marL="0" marR="0" algn="l">
              <a:spcBef>
                <a:spcPts val="750"/>
              </a:spcBef>
              <a:buNone/>
            </a:pPr>
            <a:r>
              <a:rPr sz="1400" b="0">
                <a:solidFill>
                  <a:srgbClr val="105237"/>
                </a:solidFill>
                <a:effectLst/>
                <a:latin typeface="Trade Gothic Next Light"/>
              </a:rPr>
              <a:t>The matchmaker learns whether someone wants long-term stability, short-term appreciation, self-use comfort, or a sustainable lifestyle. </a:t>
            </a:r>
            <a:endParaRPr lang="en-US" sz="1400">
              <a:latin typeface="Trade Gothic Next Light"/>
            </a:endParaRPr>
          </a:p>
        </p:txBody>
      </p:sp>
      <p:sp>
        <p:nvSpPr>
          <p:cNvPr id="15" name="TextBox 14">
            <a:extLst>
              <a:ext uri="{FF2B5EF4-FFF2-40B4-BE49-F238E27FC236}">
                <a16:creationId xmlns:a16="http://schemas.microsoft.com/office/drawing/2014/main" id="{9AD444FB-EE8A-449B-998E-AC8B8CB5796C}"/>
              </a:ext>
            </a:extLst>
          </p:cNvPr>
          <p:cNvSpPr txBox="1"/>
          <p:nvPr/>
        </p:nvSpPr>
        <p:spPr>
          <a:xfrm>
            <a:off x="391401" y="3512678"/>
            <a:ext cx="4391025" cy="217140"/>
          </a:xfrm>
          <a:prstGeom prst="rect">
            <a:avLst/>
          </a:prstGeom>
          <a:noFill/>
        </p:spPr>
        <p:txBody>
          <a:bodyPr wrap="square" lIns="91440" tIns="45720" rIns="91440" bIns="45720" rtlCol="0" anchor="t">
            <a:noAutofit/>
          </a:bodyPr>
          <a:lstStyle/>
          <a:p>
            <a:pPr marL="0" marR="0" algn="l">
              <a:spcBef>
                <a:spcPts val="1050"/>
              </a:spcBef>
              <a:buNone/>
            </a:pPr>
            <a:r>
              <a:rPr sz="1600" b="1">
                <a:solidFill>
                  <a:srgbClr val="105237"/>
                </a:solidFill>
                <a:effectLst/>
                <a:latin typeface="Trade Gothic Next Rounded"/>
              </a:rPr>
              <a:t>Explainable recommendations </a:t>
            </a:r>
            <a:endParaRPr lang="en-US" sz="1600">
              <a:latin typeface="Trade Gothic Next Rounded"/>
            </a:endParaRPr>
          </a:p>
        </p:txBody>
      </p:sp>
      <p:sp>
        <p:nvSpPr>
          <p:cNvPr id="16" name="TextBox 15">
            <a:extLst>
              <a:ext uri="{FF2B5EF4-FFF2-40B4-BE49-F238E27FC236}">
                <a16:creationId xmlns:a16="http://schemas.microsoft.com/office/drawing/2014/main" id="{F06EE2BA-E523-4A58-878B-65FE6D8CA6E2}"/>
              </a:ext>
            </a:extLst>
          </p:cNvPr>
          <p:cNvSpPr txBox="1"/>
          <p:nvPr/>
        </p:nvSpPr>
        <p:spPr>
          <a:xfrm>
            <a:off x="391401" y="3825068"/>
            <a:ext cx="4391025" cy="651420"/>
          </a:xfrm>
          <a:prstGeom prst="rect">
            <a:avLst/>
          </a:prstGeom>
          <a:noFill/>
        </p:spPr>
        <p:txBody>
          <a:bodyPr wrap="square" lIns="91440" tIns="45720" rIns="91440" bIns="45720" rtlCol="0" anchor="t">
            <a:noAutofit/>
          </a:bodyPr>
          <a:lstStyle/>
          <a:p>
            <a:pPr marL="0" marR="0" algn="l">
              <a:spcBef>
                <a:spcPts val="750"/>
              </a:spcBef>
              <a:buNone/>
            </a:pPr>
            <a:r>
              <a:rPr sz="1400" b="0" dirty="0">
                <a:solidFill>
                  <a:srgbClr val="105237"/>
                </a:solidFill>
                <a:effectLst/>
                <a:latin typeface="Trade Gothic Next Light"/>
              </a:rPr>
              <a:t>AI converts goals into structured signals, returning a </a:t>
            </a:r>
            <a:r>
              <a:rPr lang="en-US" sz="1400">
                <a:solidFill>
                  <a:srgbClr val="105237"/>
                </a:solidFill>
                <a:latin typeface="Trade Gothic Next Light"/>
              </a:rPr>
              <a:t>short-ranked</a:t>
            </a:r>
            <a:r>
              <a:rPr sz="1400" b="0" dirty="0">
                <a:solidFill>
                  <a:srgbClr val="105237"/>
                </a:solidFill>
                <a:effectLst/>
                <a:latin typeface="Trade Gothic Next Light"/>
              </a:rPr>
              <a:t> set with clear reasoning (e.g., low-risk stability vs. high-growth upside). </a:t>
            </a:r>
            <a:endParaRPr lang="en-US" sz="1400" dirty="0">
              <a:latin typeface="Trade Gothic Next Light"/>
            </a:endParaRPr>
          </a:p>
        </p:txBody>
      </p:sp>
      <p:pic>
        <p:nvPicPr>
          <p:cNvPr id="6" name="Picture 5">
            <a:extLst>
              <a:ext uri="{FF2B5EF4-FFF2-40B4-BE49-F238E27FC236}">
                <a16:creationId xmlns:a16="http://schemas.microsoft.com/office/drawing/2014/main" id="{051CCFEB-13ED-ABD1-08BA-BFECBCB57E3A}"/>
              </a:ext>
            </a:extLst>
          </p:cNvPr>
          <p:cNvPicPr>
            <a:picLocks noChangeAspect="1"/>
          </p:cNvPicPr>
          <p:nvPr/>
        </p:nvPicPr>
        <p:blipFill>
          <a:blip r:embed="rId4"/>
          <a:stretch>
            <a:fillRect/>
          </a:stretch>
        </p:blipFill>
        <p:spPr>
          <a:xfrm>
            <a:off x="6350277" y="238567"/>
            <a:ext cx="2875297" cy="5994928"/>
          </a:xfrm>
          <a:prstGeom prst="rect">
            <a:avLst/>
          </a:prstGeom>
        </p:spPr>
      </p:pic>
      <p:sp>
        <p:nvSpPr>
          <p:cNvPr id="18" name="Content Placeholder 6">
            <a:extLst>
              <a:ext uri="{FF2B5EF4-FFF2-40B4-BE49-F238E27FC236}">
                <a16:creationId xmlns:a16="http://schemas.microsoft.com/office/drawing/2014/main" id="{B5BDCEAF-F307-E944-8250-D55332DDC6DE}"/>
              </a:ext>
            </a:extLst>
          </p:cNvPr>
          <p:cNvSpPr>
            <a:spLocks noGrp="1"/>
          </p:cNvSpPr>
          <p:nvPr>
            <p:ph sz="half" idx="2"/>
          </p:nvPr>
        </p:nvSpPr>
        <p:spPr>
          <a:xfrm>
            <a:off x="320008" y="114329"/>
            <a:ext cx="3073127" cy="602538"/>
          </a:xfrm>
        </p:spPr>
        <p:txBody>
          <a:bodyPr vert="horz" lIns="91440" tIns="45720" rIns="91440" bIns="45720" rtlCol="0" anchor="t">
            <a:normAutofit/>
          </a:bodyPr>
          <a:lstStyle/>
          <a:p>
            <a:pPr marL="0" marR="0" indent="0" algn="l" fontAlgn="b">
              <a:buNone/>
            </a:pPr>
            <a:r>
              <a:rPr sz="2600" b="0">
                <a:solidFill>
                  <a:schemeClr val="tx1"/>
                </a:solidFill>
                <a:effectLst/>
                <a:latin typeface="Trade Gothic Next Rounded"/>
              </a:rPr>
              <a:t>The </a:t>
            </a:r>
            <a:r>
              <a:rPr lang="en-US" sz="2600">
                <a:solidFill>
                  <a:schemeClr val="tx1"/>
                </a:solidFill>
                <a:latin typeface="Trade Gothic Next Rounded"/>
              </a:rPr>
              <a:t>Solution</a:t>
            </a:r>
          </a:p>
        </p:txBody>
      </p:sp>
    </p:spTree>
    <p:extLst>
      <p:ext uri="{BB962C8B-B14F-4D97-AF65-F5344CB8AC3E}">
        <p14:creationId xmlns:p14="http://schemas.microsoft.com/office/powerpoint/2010/main" val="2389044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2747850-EF15-8BB1-CD8E-6D141B1E2D9B}"/>
              </a:ext>
            </a:extLst>
          </p:cNvPr>
          <p:cNvSpPr>
            <a:spLocks noGrp="1"/>
          </p:cNvSpPr>
          <p:nvPr>
            <p:ph type="ftr" sz="quarter" idx="11"/>
          </p:nvPr>
        </p:nvSpPr>
        <p:spPr/>
        <p:txBody>
          <a:bodyPr/>
          <a:lstStyle/>
          <a:p>
            <a:r>
              <a:rPr lang="en-US"/>
              <a:t>Footer Text</a:t>
            </a:r>
          </a:p>
        </p:txBody>
      </p:sp>
      <p:sp>
        <p:nvSpPr>
          <p:cNvPr id="4" name="Date Placeholder 3">
            <a:extLst>
              <a:ext uri="{FF2B5EF4-FFF2-40B4-BE49-F238E27FC236}">
                <a16:creationId xmlns:a16="http://schemas.microsoft.com/office/drawing/2014/main" id="{6942DB8C-8532-09A5-8CA0-5C50BDB1C6F3}"/>
              </a:ext>
            </a:extLst>
          </p:cNvPr>
          <p:cNvSpPr>
            <a:spLocks noGrp="1"/>
          </p:cNvSpPr>
          <p:nvPr>
            <p:ph type="dt" sz="half" idx="10"/>
          </p:nvPr>
        </p:nvSpPr>
        <p:spPr/>
        <p:txBody>
          <a:bodyPr/>
          <a:lstStyle/>
          <a:p>
            <a:fld id="{9EAD527F-9C49-4481-A18C-80BA2EA99E79}" type="datetime1">
              <a:rPr lang="en-US" smtClean="0"/>
              <a:t>10/12/26</a:t>
            </a:fld>
            <a:endParaRPr lang="en-US"/>
          </a:p>
        </p:txBody>
      </p:sp>
      <p:sp>
        <p:nvSpPr>
          <p:cNvPr id="5" name="Slide Number Placeholder 4">
            <a:extLst>
              <a:ext uri="{FF2B5EF4-FFF2-40B4-BE49-F238E27FC236}">
                <a16:creationId xmlns:a16="http://schemas.microsoft.com/office/drawing/2014/main" id="{2FA4D45B-4791-A8BB-81E9-2245C8E25AF3}"/>
              </a:ext>
            </a:extLst>
          </p:cNvPr>
          <p:cNvSpPr>
            <a:spLocks noGrp="1"/>
          </p:cNvSpPr>
          <p:nvPr>
            <p:ph type="sldNum" sz="quarter" idx="12"/>
          </p:nvPr>
        </p:nvSpPr>
        <p:spPr/>
        <p:txBody>
          <a:bodyPr/>
          <a:lstStyle/>
          <a:p>
            <a:fld id="{753D0FD4-819D-4187-8797-C35567B41C78}" type="slidenum">
              <a:rPr lang="en-US" smtClean="0"/>
              <a:t>4</a:t>
            </a:fld>
            <a:endParaRPr lang="en-US"/>
          </a:p>
        </p:txBody>
      </p:sp>
      <p:pic>
        <p:nvPicPr>
          <p:cNvPr id="8" name="Content Placeholder 7">
            <a:extLst>
              <a:ext uri="{FF2B5EF4-FFF2-40B4-BE49-F238E27FC236}">
                <a16:creationId xmlns:a16="http://schemas.microsoft.com/office/drawing/2014/main" id="{FB8AEE55-7D5C-4DD7-A41C-0C24FE30EE20}"/>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10" name="TextBox 9">
            <a:extLst>
              <a:ext uri="{FF2B5EF4-FFF2-40B4-BE49-F238E27FC236}">
                <a16:creationId xmlns:a16="http://schemas.microsoft.com/office/drawing/2014/main" id="{CEE8FB12-C82B-4DCB-9932-90FE55B41C1B}"/>
              </a:ext>
            </a:extLst>
          </p:cNvPr>
          <p:cNvSpPr txBox="1"/>
          <p:nvPr/>
        </p:nvSpPr>
        <p:spPr>
          <a:xfrm>
            <a:off x="7183716" y="1012213"/>
            <a:ext cx="4958395" cy="523499"/>
          </a:xfrm>
          <a:prstGeom prst="rect">
            <a:avLst/>
          </a:prstGeom>
          <a:noFill/>
        </p:spPr>
        <p:txBody>
          <a:bodyPr wrap="square" lIns="91440" tIns="45720" rIns="91440" bIns="45720" rtlCol="0" anchor="t">
            <a:normAutofit/>
          </a:bodyPr>
          <a:lstStyle/>
          <a:p>
            <a:pPr marL="0" algn="l">
              <a:buNone/>
            </a:pPr>
            <a:r>
              <a:rPr sz="2000">
                <a:solidFill>
                  <a:srgbClr val="105237"/>
                </a:solidFill>
                <a:effectLst/>
                <a:latin typeface="Avenir Next LT Pro"/>
              </a:rPr>
              <a:t>AI Score Evaluation Framework </a:t>
            </a:r>
            <a:endParaRPr lang="en-US" sz="2000">
              <a:latin typeface="Avenir Next LT Pro"/>
            </a:endParaRPr>
          </a:p>
        </p:txBody>
      </p:sp>
      <p:sp>
        <p:nvSpPr>
          <p:cNvPr id="2" name="TextBox 1">
            <a:extLst>
              <a:ext uri="{FF2B5EF4-FFF2-40B4-BE49-F238E27FC236}">
                <a16:creationId xmlns:a16="http://schemas.microsoft.com/office/drawing/2014/main" id="{9B3049A7-9871-B712-1A80-547A82C1A744}"/>
              </a:ext>
            </a:extLst>
          </p:cNvPr>
          <p:cNvSpPr txBox="1"/>
          <p:nvPr/>
        </p:nvSpPr>
        <p:spPr>
          <a:xfrm>
            <a:off x="7185159" y="1616414"/>
            <a:ext cx="4157717" cy="41857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mn-lt"/>
                <a:cs typeface="+mn-lt"/>
              </a:rPr>
              <a:t>1️⃣</a:t>
            </a:r>
            <a:r>
              <a:rPr lang="en-US" sz="1200" b="1">
                <a:ea typeface="+mn-lt"/>
                <a:cs typeface="+mn-lt"/>
              </a:rPr>
              <a:t> Natural Language House Needs → AI Match</a:t>
            </a:r>
            <a:endParaRPr lang="en-US" sz="1200"/>
          </a:p>
          <a:p>
            <a:endParaRPr lang="en-US" sz="1200" b="1">
              <a:ea typeface="+mn-lt"/>
              <a:cs typeface="+mn-lt"/>
            </a:endParaRPr>
          </a:p>
          <a:p>
            <a:r>
              <a:rPr lang="en-US" sz="1200">
                <a:ea typeface="+mn-lt"/>
                <a:cs typeface="+mn-lt"/>
              </a:rPr>
              <a:t>User just talks:</a:t>
            </a:r>
            <a:endParaRPr lang="en-US" sz="1200"/>
          </a:p>
          <a:p>
            <a:r>
              <a:rPr lang="en-US" sz="1200">
                <a:ea typeface="+mn-lt"/>
                <a:cs typeface="+mn-lt"/>
              </a:rPr>
              <a:t>“I want a bright 2BHK near tech hubs, but quiet. Pet friendly. Not too expensive.”</a:t>
            </a:r>
            <a:endParaRPr lang="en-US" sz="1200"/>
          </a:p>
          <a:p>
            <a:r>
              <a:rPr lang="en-US" sz="1200">
                <a:ea typeface="+mn-lt"/>
                <a:cs typeface="+mn-lt"/>
              </a:rPr>
              <a:t>AI converts this into structured preferences + priorities.</a:t>
            </a:r>
            <a:endParaRPr lang="en-US" sz="1200"/>
          </a:p>
          <a:p>
            <a:r>
              <a:rPr lang="en-US" sz="1200" b="1">
                <a:ea typeface="+mn-lt"/>
                <a:cs typeface="+mn-lt"/>
              </a:rPr>
              <a:t>Tech:</a:t>
            </a:r>
            <a:r>
              <a:rPr lang="en-US" sz="1200">
                <a:ea typeface="+mn-lt"/>
                <a:cs typeface="+mn-lt"/>
              </a:rPr>
              <a:t> LLM, embeddings, minimal rules.</a:t>
            </a:r>
            <a:endParaRPr lang="en-US" sz="1200"/>
          </a:p>
          <a:p>
            <a:endParaRPr lang="en-US" sz="1200"/>
          </a:p>
          <a:p>
            <a:r>
              <a:rPr lang="en-US" sz="1200">
                <a:ea typeface="+mn-lt"/>
                <a:cs typeface="+mn-lt"/>
              </a:rPr>
              <a:t>2️⃣</a:t>
            </a:r>
            <a:r>
              <a:rPr lang="en-US" sz="1200" b="1">
                <a:ea typeface="+mn-lt"/>
                <a:cs typeface="+mn-lt"/>
              </a:rPr>
              <a:t> Lifestyle Compatibility Index (LCI)</a:t>
            </a:r>
            <a:endParaRPr lang="en-US" sz="1200"/>
          </a:p>
          <a:p>
            <a:endParaRPr lang="en-US" sz="1200" b="1">
              <a:ea typeface="+mn-lt"/>
              <a:cs typeface="+mn-lt"/>
            </a:endParaRPr>
          </a:p>
          <a:p>
            <a:r>
              <a:rPr lang="en-US" sz="1200">
                <a:ea typeface="+mn-lt"/>
                <a:cs typeface="+mn-lt"/>
              </a:rPr>
              <a:t>3️⃣</a:t>
            </a:r>
            <a:r>
              <a:rPr lang="en-US" sz="1200" b="1">
                <a:ea typeface="+mn-lt"/>
                <a:cs typeface="+mn-lt"/>
              </a:rPr>
              <a:t> AI Negotiator for Compromise</a:t>
            </a:r>
            <a:endParaRPr lang="en-US" sz="1200"/>
          </a:p>
          <a:p>
            <a:endParaRPr lang="en-US" sz="1200" b="1">
              <a:ea typeface="+mn-lt"/>
              <a:cs typeface="+mn-lt"/>
            </a:endParaRPr>
          </a:p>
          <a:p>
            <a:r>
              <a:rPr lang="en-US" sz="1200">
                <a:ea typeface="+mn-lt"/>
                <a:cs typeface="+mn-lt"/>
              </a:rPr>
              <a:t>4️⃣</a:t>
            </a:r>
            <a:r>
              <a:rPr lang="en-US" sz="1200" b="1">
                <a:ea typeface="+mn-lt"/>
                <a:cs typeface="+mn-lt"/>
              </a:rPr>
              <a:t> Smart Q&amp;A: AI Asks Instead of You</a:t>
            </a:r>
            <a:endParaRPr lang="en-US" sz="1200"/>
          </a:p>
          <a:p>
            <a:endParaRPr lang="en-US" sz="1200" b="1">
              <a:ea typeface="+mn-lt"/>
              <a:cs typeface="+mn-lt"/>
            </a:endParaRPr>
          </a:p>
          <a:p>
            <a:r>
              <a:rPr lang="en-US" sz="1200">
                <a:ea typeface="+mn-lt"/>
                <a:cs typeface="+mn-lt"/>
              </a:rPr>
              <a:t>5️⃣</a:t>
            </a:r>
            <a:r>
              <a:rPr lang="en-US" sz="1200" b="1">
                <a:ea typeface="+mn-lt"/>
                <a:cs typeface="+mn-lt"/>
              </a:rPr>
              <a:t> Image/Landmark Reasoning + Insights</a:t>
            </a:r>
            <a:endParaRPr lang="en-US" sz="1200"/>
          </a:p>
          <a:p>
            <a:endParaRPr lang="en-US" sz="1200" b="1">
              <a:ea typeface="+mn-lt"/>
              <a:cs typeface="+mn-lt"/>
            </a:endParaRPr>
          </a:p>
          <a:p>
            <a:r>
              <a:rPr lang="en-US" sz="1200">
                <a:ea typeface="+mn-lt"/>
                <a:cs typeface="+mn-lt"/>
              </a:rPr>
              <a:t>6️⃣</a:t>
            </a:r>
            <a:r>
              <a:rPr lang="en-US" sz="1200" b="1">
                <a:ea typeface="+mn-lt"/>
                <a:cs typeface="+mn-lt"/>
              </a:rPr>
              <a:t> Map Intelligence Layer</a:t>
            </a:r>
            <a:endParaRPr lang="en-US" sz="1200"/>
          </a:p>
          <a:p>
            <a:endParaRPr lang="en-US" sz="1200" b="1">
              <a:ea typeface="+mn-lt"/>
              <a:cs typeface="+mn-lt"/>
            </a:endParaRPr>
          </a:p>
          <a:p>
            <a:r>
              <a:rPr lang="en-US" sz="1200">
                <a:ea typeface="+mn-lt"/>
                <a:cs typeface="+mn-lt"/>
              </a:rPr>
              <a:t>7️⃣</a:t>
            </a:r>
            <a:r>
              <a:rPr lang="en-US" sz="1200" b="1">
                <a:ea typeface="+mn-lt"/>
                <a:cs typeface="+mn-lt"/>
              </a:rPr>
              <a:t> Conversational Compare Mode</a:t>
            </a:r>
            <a:endParaRPr lang="en-US" sz="1200"/>
          </a:p>
          <a:p>
            <a:endParaRPr lang="en-US" sz="1200" b="1">
              <a:ea typeface="+mn-lt"/>
              <a:cs typeface="+mn-lt"/>
            </a:endParaRPr>
          </a:p>
          <a:p>
            <a:r>
              <a:rPr lang="en-US" sz="1200">
                <a:ea typeface="+mn-lt"/>
                <a:cs typeface="+mn-lt"/>
              </a:rPr>
              <a:t>8️⃣</a:t>
            </a:r>
            <a:r>
              <a:rPr lang="en-US" sz="1200" b="1">
                <a:ea typeface="+mn-lt"/>
                <a:cs typeface="+mn-lt"/>
              </a:rPr>
              <a:t> Fraud/Red Flag Detection</a:t>
            </a:r>
            <a:endParaRPr lang="en-US" sz="1200"/>
          </a:p>
          <a:p>
            <a:pPr algn="l"/>
            <a:endParaRPr lang="en-US" sz="1400"/>
          </a:p>
        </p:txBody>
      </p:sp>
      <p:pic>
        <p:nvPicPr>
          <p:cNvPr id="12" name="Picture 11">
            <a:extLst>
              <a:ext uri="{FF2B5EF4-FFF2-40B4-BE49-F238E27FC236}">
                <a16:creationId xmlns:a16="http://schemas.microsoft.com/office/drawing/2014/main" id="{C5E7AE9A-EE6C-B8E7-AD34-CBA8CF3C1B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91703" y="204321"/>
            <a:ext cx="2732210" cy="6110200"/>
          </a:xfrm>
          <a:prstGeom prst="rect">
            <a:avLst/>
          </a:prstGeom>
        </p:spPr>
      </p:pic>
      <p:sp>
        <p:nvSpPr>
          <p:cNvPr id="6" name="Content Placeholder 6">
            <a:extLst>
              <a:ext uri="{FF2B5EF4-FFF2-40B4-BE49-F238E27FC236}">
                <a16:creationId xmlns:a16="http://schemas.microsoft.com/office/drawing/2014/main" id="{CC947790-0796-DACC-D484-8B9F428AAD72}"/>
              </a:ext>
            </a:extLst>
          </p:cNvPr>
          <p:cNvSpPr>
            <a:spLocks noGrp="1"/>
          </p:cNvSpPr>
          <p:nvPr>
            <p:ph sz="half" idx="2"/>
          </p:nvPr>
        </p:nvSpPr>
        <p:spPr>
          <a:xfrm>
            <a:off x="7183141" y="330440"/>
            <a:ext cx="3000979" cy="580965"/>
          </a:xfrm>
        </p:spPr>
        <p:txBody>
          <a:bodyPr vert="horz" lIns="91440" tIns="45720" rIns="91440" bIns="45720" rtlCol="0" anchor="t">
            <a:normAutofit/>
          </a:bodyPr>
          <a:lstStyle/>
          <a:p>
            <a:pPr marL="0" marR="0" indent="0" algn="l" fontAlgn="b">
              <a:buNone/>
            </a:pPr>
            <a:r>
              <a:rPr sz="2600">
                <a:solidFill>
                  <a:schemeClr val="tx1"/>
                </a:solidFill>
                <a:effectLst/>
                <a:latin typeface="Avenir Next LT Pro"/>
              </a:rPr>
              <a:t>AI-Driven Solution</a:t>
            </a:r>
            <a:endParaRPr lang="en-US" sz="2600">
              <a:solidFill>
                <a:schemeClr val="tx1"/>
              </a:solidFill>
              <a:latin typeface="Avenir Next LT Pro"/>
            </a:endParaRPr>
          </a:p>
        </p:txBody>
      </p:sp>
      <p:pic>
        <p:nvPicPr>
          <p:cNvPr id="9" name="Picture 8">
            <a:extLst>
              <a:ext uri="{FF2B5EF4-FFF2-40B4-BE49-F238E27FC236}">
                <a16:creationId xmlns:a16="http://schemas.microsoft.com/office/drawing/2014/main" id="{0BD34F56-13FE-C83F-58B4-B9C6627B2E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3347" y="204322"/>
            <a:ext cx="2765366" cy="6110200"/>
          </a:xfrm>
          <a:prstGeom prst="rect">
            <a:avLst/>
          </a:prstGeom>
        </p:spPr>
      </p:pic>
    </p:spTree>
    <p:extLst>
      <p:ext uri="{BB962C8B-B14F-4D97-AF65-F5344CB8AC3E}">
        <p14:creationId xmlns:p14="http://schemas.microsoft.com/office/powerpoint/2010/main" val="2433873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3D35E-F8E5-6CB2-5225-2E3CA25787C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77D1361-64B1-58F8-B2DD-E7F0B2A3A56C}"/>
              </a:ext>
            </a:extLst>
          </p:cNvPr>
          <p:cNvSpPr>
            <a:spLocks noGrp="1"/>
          </p:cNvSpPr>
          <p:nvPr>
            <p:ph type="ftr" sz="quarter" idx="11"/>
          </p:nvPr>
        </p:nvSpPr>
        <p:spPr/>
        <p:txBody>
          <a:bodyPr/>
          <a:lstStyle/>
          <a:p>
            <a:r>
              <a:rPr lang="en-US"/>
              <a:t>Footer Text</a:t>
            </a:r>
          </a:p>
        </p:txBody>
      </p:sp>
      <p:sp>
        <p:nvSpPr>
          <p:cNvPr id="4" name="Date Placeholder 3">
            <a:extLst>
              <a:ext uri="{FF2B5EF4-FFF2-40B4-BE49-F238E27FC236}">
                <a16:creationId xmlns:a16="http://schemas.microsoft.com/office/drawing/2014/main" id="{C59E6AE7-7409-DEA1-2FCA-CBCD29D15D6B}"/>
              </a:ext>
            </a:extLst>
          </p:cNvPr>
          <p:cNvSpPr>
            <a:spLocks noGrp="1"/>
          </p:cNvSpPr>
          <p:nvPr>
            <p:ph type="dt" sz="half" idx="10"/>
          </p:nvPr>
        </p:nvSpPr>
        <p:spPr/>
        <p:txBody>
          <a:bodyPr/>
          <a:lstStyle/>
          <a:p>
            <a:fld id="{9EAD527F-9C49-4481-A18C-80BA2EA99E79}" type="datetime1">
              <a:rPr lang="en-US" smtClean="0"/>
              <a:t>10/12/26</a:t>
            </a:fld>
            <a:endParaRPr lang="en-US"/>
          </a:p>
        </p:txBody>
      </p:sp>
      <p:sp>
        <p:nvSpPr>
          <p:cNvPr id="5" name="Slide Number Placeholder 4">
            <a:extLst>
              <a:ext uri="{FF2B5EF4-FFF2-40B4-BE49-F238E27FC236}">
                <a16:creationId xmlns:a16="http://schemas.microsoft.com/office/drawing/2014/main" id="{E95ECB43-6482-8699-5DCB-506FA707D794}"/>
              </a:ext>
            </a:extLst>
          </p:cNvPr>
          <p:cNvSpPr>
            <a:spLocks noGrp="1"/>
          </p:cNvSpPr>
          <p:nvPr>
            <p:ph type="sldNum" sz="quarter" idx="12"/>
          </p:nvPr>
        </p:nvSpPr>
        <p:spPr/>
        <p:txBody>
          <a:bodyPr/>
          <a:lstStyle/>
          <a:p>
            <a:fld id="{753D0FD4-819D-4187-8797-C35567B41C78}" type="slidenum">
              <a:rPr lang="en-US" smtClean="0"/>
              <a:t>5</a:t>
            </a:fld>
            <a:endParaRPr lang="en-US"/>
          </a:p>
        </p:txBody>
      </p:sp>
      <p:pic>
        <p:nvPicPr>
          <p:cNvPr id="8" name="Content Placeholder 7">
            <a:extLst>
              <a:ext uri="{FF2B5EF4-FFF2-40B4-BE49-F238E27FC236}">
                <a16:creationId xmlns:a16="http://schemas.microsoft.com/office/drawing/2014/main" id="{C32E646D-E49F-71C6-C56C-03AC0CC21597}"/>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508FEB2B-BADA-78A6-428A-57A813086BE9}"/>
              </a:ext>
            </a:extLst>
          </p:cNvPr>
          <p:cNvSpPr txBox="1"/>
          <p:nvPr/>
        </p:nvSpPr>
        <p:spPr>
          <a:xfrm>
            <a:off x="7276079" y="1205107"/>
            <a:ext cx="4157717"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ea typeface="+mn-lt"/>
                <a:cs typeface="+mn-lt"/>
              </a:rPr>
              <a:t>For Customers</a:t>
            </a:r>
            <a:endParaRPr lang="en-US" sz="2000" b="1"/>
          </a:p>
          <a:p>
            <a:endParaRPr lang="en-US" sz="2000" b="1">
              <a:ea typeface="+mn-lt"/>
              <a:cs typeface="+mn-lt"/>
            </a:endParaRPr>
          </a:p>
          <a:p>
            <a:r>
              <a:rPr lang="en-US" sz="1600">
                <a:ea typeface="+mn-lt"/>
                <a:cs typeface="+mn-lt"/>
              </a:rPr>
              <a:t>✅ Highly personalized property options</a:t>
            </a:r>
            <a:br>
              <a:rPr lang="en-US" sz="1600">
                <a:ea typeface="+mn-lt"/>
                <a:cs typeface="+mn-lt"/>
              </a:rPr>
            </a:br>
            <a:r>
              <a:rPr lang="en-US" sz="1600">
                <a:ea typeface="+mn-lt"/>
                <a:cs typeface="+mn-lt"/>
              </a:rPr>
              <a:t>✅ Faster decision-making</a:t>
            </a:r>
          </a:p>
          <a:p>
            <a:r>
              <a:rPr lang="en-US" sz="1600">
                <a:ea typeface="+mn-lt"/>
                <a:cs typeface="+mn-lt"/>
              </a:rPr>
              <a:t>✅ Transparent reasoning behind matches</a:t>
            </a:r>
            <a:endParaRPr lang="en-US" sz="1600"/>
          </a:p>
          <a:p>
            <a:endParaRPr lang="en-US" sz="2400"/>
          </a:p>
          <a:p>
            <a:r>
              <a:rPr lang="en-US" sz="2000" b="1">
                <a:ea typeface="+mn-lt"/>
                <a:cs typeface="+mn-lt"/>
              </a:rPr>
              <a:t>For Brokers</a:t>
            </a:r>
            <a:endParaRPr lang="en-US" sz="2000" b="1"/>
          </a:p>
          <a:p>
            <a:endParaRPr lang="en-US" sz="2000" b="1">
              <a:ea typeface="+mn-lt"/>
              <a:cs typeface="+mn-lt"/>
            </a:endParaRPr>
          </a:p>
          <a:p>
            <a:r>
              <a:rPr lang="en-US" sz="1600">
                <a:ea typeface="+mn-lt"/>
                <a:cs typeface="+mn-lt"/>
              </a:rPr>
              <a:t>✅ Improved conversions</a:t>
            </a:r>
            <a:br>
              <a:rPr lang="en-US" sz="1600">
                <a:ea typeface="+mn-lt"/>
                <a:cs typeface="+mn-lt"/>
              </a:rPr>
            </a:br>
            <a:r>
              <a:rPr lang="en-US" sz="1600">
                <a:ea typeface="+mn-lt"/>
                <a:cs typeface="+mn-lt"/>
              </a:rPr>
              <a:t>✅ Less manual work</a:t>
            </a:r>
            <a:br>
              <a:rPr lang="en-US" sz="1600">
                <a:ea typeface="+mn-lt"/>
                <a:cs typeface="+mn-lt"/>
              </a:rPr>
            </a:br>
            <a:r>
              <a:rPr lang="en-US" sz="1600">
                <a:ea typeface="+mn-lt"/>
                <a:cs typeface="+mn-lt"/>
              </a:rPr>
              <a:t>✅ Elevated professionalism</a:t>
            </a:r>
            <a:endParaRPr lang="en-US" sz="1600"/>
          </a:p>
          <a:p>
            <a:endParaRPr lang="en-US" sz="2400"/>
          </a:p>
          <a:p>
            <a:r>
              <a:rPr lang="en-US" b="1">
                <a:ea typeface="+mn-lt"/>
                <a:cs typeface="+mn-lt"/>
              </a:rPr>
              <a:t>For Developers</a:t>
            </a:r>
            <a:endParaRPr lang="en-US" b="1"/>
          </a:p>
          <a:p>
            <a:endParaRPr lang="en-US" b="1">
              <a:ea typeface="+mn-lt"/>
              <a:cs typeface="+mn-lt"/>
            </a:endParaRPr>
          </a:p>
          <a:p>
            <a:r>
              <a:rPr lang="en-US" sz="1600">
                <a:ea typeface="+mn-lt"/>
                <a:cs typeface="+mn-lt"/>
              </a:rPr>
              <a:t>✅ Better-qualified customer targeting</a:t>
            </a:r>
            <a:br>
              <a:rPr lang="en-US" sz="1600">
                <a:ea typeface="+mn-lt"/>
                <a:cs typeface="+mn-lt"/>
              </a:rPr>
            </a:br>
            <a:r>
              <a:rPr lang="en-US" sz="1600">
                <a:ea typeface="+mn-lt"/>
                <a:cs typeface="+mn-lt"/>
              </a:rPr>
              <a:t>✅ Fair visibility across projects</a:t>
            </a:r>
            <a:endParaRPr lang="en-US" sz="1600"/>
          </a:p>
          <a:p>
            <a:pPr algn="l"/>
            <a:endParaRPr lang="en-US" sz="1600" b="1"/>
          </a:p>
        </p:txBody>
      </p:sp>
      <p:sp>
        <p:nvSpPr>
          <p:cNvPr id="6" name="Content Placeholder 6">
            <a:extLst>
              <a:ext uri="{FF2B5EF4-FFF2-40B4-BE49-F238E27FC236}">
                <a16:creationId xmlns:a16="http://schemas.microsoft.com/office/drawing/2014/main" id="{FD66A93D-32E6-D353-EEB5-35D88BE7516C}"/>
              </a:ext>
            </a:extLst>
          </p:cNvPr>
          <p:cNvSpPr>
            <a:spLocks noGrp="1"/>
          </p:cNvSpPr>
          <p:nvPr>
            <p:ph sz="half" idx="2"/>
          </p:nvPr>
        </p:nvSpPr>
        <p:spPr>
          <a:xfrm>
            <a:off x="7274062" y="542587"/>
            <a:ext cx="3788955" cy="516022"/>
          </a:xfrm>
        </p:spPr>
        <p:txBody>
          <a:bodyPr vert="horz" lIns="91440" tIns="45720" rIns="91440" bIns="45720" rtlCol="0" anchor="t">
            <a:noAutofit/>
          </a:bodyPr>
          <a:lstStyle/>
          <a:p>
            <a:pPr marL="0" marR="0" indent="0" algn="l">
              <a:buNone/>
            </a:pPr>
            <a:r>
              <a:rPr lang="en-US" sz="3000">
                <a:solidFill>
                  <a:schemeClr val="tx1"/>
                </a:solidFill>
                <a:latin typeface="Avenir Next LT Pro"/>
              </a:rPr>
              <a:t>Benefit</a:t>
            </a:r>
            <a:endParaRPr lang="en-US" sz="3000">
              <a:solidFill>
                <a:schemeClr val="tx1"/>
              </a:solidFill>
            </a:endParaRPr>
          </a:p>
        </p:txBody>
      </p:sp>
    </p:spTree>
    <p:extLst>
      <p:ext uri="{BB962C8B-B14F-4D97-AF65-F5344CB8AC3E}">
        <p14:creationId xmlns:p14="http://schemas.microsoft.com/office/powerpoint/2010/main" val="2257282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B66DE99-8E50-7AE4-1C59-973CDCC118E7}"/>
              </a:ext>
            </a:extLst>
          </p:cNvPr>
          <p:cNvSpPr>
            <a:spLocks noGrp="1"/>
          </p:cNvSpPr>
          <p:nvPr>
            <p:ph type="ftr" sz="quarter" idx="11"/>
          </p:nvPr>
        </p:nvSpPr>
        <p:spPr/>
        <p:txBody>
          <a:bodyPr/>
          <a:lstStyle/>
          <a:p>
            <a:r>
              <a:rPr lang="en-US"/>
              <a:t>Footer Text</a:t>
            </a:r>
          </a:p>
        </p:txBody>
      </p:sp>
      <p:sp>
        <p:nvSpPr>
          <p:cNvPr id="4" name="Date Placeholder 3">
            <a:extLst>
              <a:ext uri="{FF2B5EF4-FFF2-40B4-BE49-F238E27FC236}">
                <a16:creationId xmlns:a16="http://schemas.microsoft.com/office/drawing/2014/main" id="{CA9A2CDF-83BF-BA5E-26C6-A515CBDC87F2}"/>
              </a:ext>
            </a:extLst>
          </p:cNvPr>
          <p:cNvSpPr>
            <a:spLocks noGrp="1"/>
          </p:cNvSpPr>
          <p:nvPr>
            <p:ph type="dt" sz="half" idx="10"/>
          </p:nvPr>
        </p:nvSpPr>
        <p:spPr/>
        <p:txBody>
          <a:bodyPr/>
          <a:lstStyle/>
          <a:p>
            <a:fld id="{9EAD527F-9C49-4481-A18C-80BA2EA99E79}" type="datetime1">
              <a:rPr lang="en-US" smtClean="0"/>
              <a:t>10/12/26</a:t>
            </a:fld>
            <a:endParaRPr lang="en-US"/>
          </a:p>
        </p:txBody>
      </p:sp>
      <p:sp>
        <p:nvSpPr>
          <p:cNvPr id="5" name="Slide Number Placeholder 4">
            <a:extLst>
              <a:ext uri="{FF2B5EF4-FFF2-40B4-BE49-F238E27FC236}">
                <a16:creationId xmlns:a16="http://schemas.microsoft.com/office/drawing/2014/main" id="{2E11553B-D089-5D9C-6ADA-0B0CE656E536}"/>
              </a:ext>
            </a:extLst>
          </p:cNvPr>
          <p:cNvSpPr>
            <a:spLocks noGrp="1"/>
          </p:cNvSpPr>
          <p:nvPr>
            <p:ph type="sldNum" sz="quarter" idx="12"/>
          </p:nvPr>
        </p:nvSpPr>
        <p:spPr/>
        <p:txBody>
          <a:bodyPr/>
          <a:lstStyle/>
          <a:p>
            <a:fld id="{753D0FD4-819D-4187-8797-C35567B41C78}" type="slidenum">
              <a:rPr lang="en-US" smtClean="0"/>
              <a:t>6</a:t>
            </a:fld>
            <a:endParaRPr lang="en-US"/>
          </a:p>
        </p:txBody>
      </p:sp>
      <p:pic>
        <p:nvPicPr>
          <p:cNvPr id="8" name="Content Placeholder 7">
            <a:extLst>
              <a:ext uri="{FF2B5EF4-FFF2-40B4-BE49-F238E27FC236}">
                <a16:creationId xmlns:a16="http://schemas.microsoft.com/office/drawing/2014/main" id="{72729341-7878-426D-BF05-9EF8CF8B18F1}"/>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9" name="Content Placeholder 8" descr="Shot of a group of programmers working together on a computer code at night">
            <a:extLst>
              <a:ext uri="{FF2B5EF4-FFF2-40B4-BE49-F238E27FC236}">
                <a16:creationId xmlns:a16="http://schemas.microsoft.com/office/drawing/2014/main" id="{90E447CE-DB9F-407F-95D9-1210649FFE8F}"/>
              </a:ext>
            </a:extLst>
          </p:cNvPr>
          <p:cNvPicPr>
            <a:picLocks noGrp="1" noChangeAspect="1"/>
          </p:cNvPicPr>
          <p:nvPr>
            <p:ph sz="half" idx="2"/>
          </p:nvPr>
        </p:nvPicPr>
        <p:blipFill>
          <a:blip r:embed="rId4"/>
          <a:stretch>
            <a:fillRect/>
          </a:stretch>
        </p:blipFill>
        <p:spPr>
          <a:xfrm>
            <a:off x="6547944" y="617596"/>
            <a:ext cx="5644055" cy="5644055"/>
          </a:xfrm>
          <a:prstGeom prst="rect">
            <a:avLst/>
          </a:prstGeom>
        </p:spPr>
      </p:pic>
      <p:sp>
        <p:nvSpPr>
          <p:cNvPr id="10" name="TextBox 9">
            <a:extLst>
              <a:ext uri="{FF2B5EF4-FFF2-40B4-BE49-F238E27FC236}">
                <a16:creationId xmlns:a16="http://schemas.microsoft.com/office/drawing/2014/main" id="{B613EF49-78F8-48AE-A2A7-B5294D20AD37}"/>
              </a:ext>
            </a:extLst>
          </p:cNvPr>
          <p:cNvSpPr txBox="1"/>
          <p:nvPr/>
        </p:nvSpPr>
        <p:spPr>
          <a:xfrm>
            <a:off x="387212" y="1113839"/>
            <a:ext cx="4391025" cy="1086058"/>
          </a:xfrm>
          <a:prstGeom prst="rect">
            <a:avLst/>
          </a:prstGeom>
          <a:noFill/>
        </p:spPr>
        <p:txBody>
          <a:bodyPr wrap="square" rtlCol="0">
            <a:normAutofit fontScale="92500" lnSpcReduction="10000"/>
          </a:bodyPr>
          <a:lstStyle/>
          <a:p>
            <a:pPr marL="0" algn="l">
              <a:buNone/>
            </a:pPr>
            <a:r>
              <a:rPr sz="2000">
                <a:solidFill>
                  <a:srgbClr val="105237"/>
                </a:solidFill>
                <a:effectLst/>
                <a:latin typeface="Avenir Next LT Pro" panose="020B0504020202020204" pitchFamily="34" charset="0"/>
              </a:rPr>
              <a:t>Business Scope &amp; Monetization </a:t>
            </a:r>
            <a:endParaRPr lang="en-US" sz="2000"/>
          </a:p>
        </p:txBody>
      </p:sp>
      <p:sp>
        <p:nvSpPr>
          <p:cNvPr id="11" name="TextBox 10">
            <a:extLst>
              <a:ext uri="{FF2B5EF4-FFF2-40B4-BE49-F238E27FC236}">
                <a16:creationId xmlns:a16="http://schemas.microsoft.com/office/drawing/2014/main" id="{A969DAE6-AB84-4553-A12C-B740D4A1047A}"/>
              </a:ext>
            </a:extLst>
          </p:cNvPr>
          <p:cNvSpPr txBox="1"/>
          <p:nvPr/>
        </p:nvSpPr>
        <p:spPr>
          <a:xfrm>
            <a:off x="387212" y="1842679"/>
            <a:ext cx="4391025" cy="3685460"/>
          </a:xfrm>
          <a:prstGeom prst="rect">
            <a:avLst/>
          </a:prstGeom>
          <a:noFill/>
        </p:spPr>
        <p:txBody>
          <a:bodyPr wrap="square" rtlCol="0">
            <a:normAutofit/>
          </a:bodyPr>
          <a:lstStyle/>
          <a:p>
            <a:pPr marL="0" algn="l">
              <a:buNone/>
            </a:pPr>
            <a:r>
              <a:rPr sz="1500" b="1">
                <a:solidFill>
                  <a:srgbClr val="105237"/>
                </a:solidFill>
                <a:effectLst/>
                <a:latin typeface="Avenir Next LT Pro" panose="020B0504020202020204" pitchFamily="34" charset="0"/>
              </a:rPr>
              <a:t>B2C premium advisory </a:t>
            </a:r>
            <a:endParaRPr>
              <a:effectLst/>
            </a:endParaRPr>
          </a:p>
          <a:p>
            <a:pPr marL="0" algn="l">
              <a:spcBef>
                <a:spcPts val="750"/>
              </a:spcBef>
              <a:buNone/>
            </a:pPr>
            <a:r>
              <a:rPr sz="1425" b="0">
                <a:solidFill>
                  <a:srgbClr val="105237"/>
                </a:solidFill>
                <a:effectLst/>
                <a:latin typeface="Avenir Next LT Pro" panose="020B0504020202020204" pitchFamily="34" charset="0"/>
              </a:rPr>
              <a:t>Free basic matching with paid upgrades: investment analysis, risk/return views, and personalized consultations. </a:t>
            </a:r>
            <a:endParaRPr>
              <a:effectLst/>
            </a:endParaRPr>
          </a:p>
          <a:p>
            <a:pPr marL="0" algn="l">
              <a:spcBef>
                <a:spcPts val="1350"/>
              </a:spcBef>
              <a:buNone/>
            </a:pPr>
            <a:r>
              <a:rPr sz="1500" b="1">
                <a:solidFill>
                  <a:srgbClr val="105237"/>
                </a:solidFill>
                <a:effectLst/>
                <a:latin typeface="Avenir Next LT Pro" panose="020B0504020202020204" pitchFamily="34" charset="0"/>
              </a:rPr>
              <a:t>B2B licensing + intelligence layer </a:t>
            </a:r>
            <a:endParaRPr>
              <a:effectLst/>
            </a:endParaRPr>
          </a:p>
          <a:p>
            <a:pPr marL="0" algn="l">
              <a:spcBef>
                <a:spcPts val="750"/>
              </a:spcBef>
              <a:buNone/>
            </a:pPr>
            <a:r>
              <a:rPr sz="1425" b="0">
                <a:solidFill>
                  <a:srgbClr val="105237"/>
                </a:solidFill>
                <a:effectLst/>
                <a:latin typeface="Avenir Next LT Pro" panose="020B0504020202020204" pitchFamily="34" charset="0"/>
              </a:rPr>
              <a:t>License the matching engine as an API to portals, builders, and brokerages to lift engagement and conversions. </a:t>
            </a:r>
            <a:endParaRPr>
              <a:effectLst/>
            </a:endParaRPr>
          </a:p>
          <a:p>
            <a:pPr marL="0" algn="l">
              <a:spcBef>
                <a:spcPts val="1350"/>
              </a:spcBef>
              <a:buNone/>
            </a:pPr>
            <a:r>
              <a:rPr sz="1500" b="1">
                <a:solidFill>
                  <a:srgbClr val="105237"/>
                </a:solidFill>
                <a:effectLst/>
                <a:latin typeface="Avenir Next LT Pro" panose="020B0504020202020204" pitchFamily="34" charset="0"/>
              </a:rPr>
              <a:t>Insights + partners </a:t>
            </a:r>
            <a:endParaRPr>
              <a:effectLst/>
            </a:endParaRPr>
          </a:p>
          <a:p>
            <a:pPr marL="0" algn="l">
              <a:spcBef>
                <a:spcPts val="750"/>
              </a:spcBef>
              <a:buNone/>
            </a:pPr>
            <a:r>
              <a:rPr sz="1425" b="0">
                <a:solidFill>
                  <a:srgbClr val="105237"/>
                </a:solidFill>
                <a:effectLst/>
                <a:latin typeface="Avenir Next LT Pro" panose="020B0504020202020204" pitchFamily="34" charset="0"/>
              </a:rPr>
              <a:t>Monetize anonymized intent analytics and add referral revenue via banks, insurers, and legal-service integrations. </a:t>
            </a:r>
            <a:endParaRPr lang="en-US"/>
          </a:p>
        </p:txBody>
      </p:sp>
      <p:sp>
        <p:nvSpPr>
          <p:cNvPr id="2" name="Content Placeholder 6">
            <a:extLst>
              <a:ext uri="{FF2B5EF4-FFF2-40B4-BE49-F238E27FC236}">
                <a16:creationId xmlns:a16="http://schemas.microsoft.com/office/drawing/2014/main" id="{7481841B-AB1E-D779-386F-C9A14814BDEA}"/>
              </a:ext>
            </a:extLst>
          </p:cNvPr>
          <p:cNvSpPr txBox="1">
            <a:spLocks/>
          </p:cNvSpPr>
          <p:nvPr/>
        </p:nvSpPr>
        <p:spPr>
          <a:xfrm>
            <a:off x="383339" y="611665"/>
            <a:ext cx="4372389" cy="51799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
              <a:buFont typeface="Arial" panose="020B0604020202020204" pitchFamily="34" charset="0"/>
              <a:buNone/>
            </a:pPr>
            <a:r>
              <a:rPr lang="en-US" sz="2600">
                <a:solidFill>
                  <a:schemeClr val="tx1"/>
                </a:solidFill>
                <a:latin typeface="Avenir Next LT Pro" panose="020B0504020202020204" pitchFamily="34" charset="0"/>
              </a:rPr>
              <a:t>Product &amp; Growth Potential</a:t>
            </a:r>
            <a:r>
              <a:rPr lang="en-US" sz="2600">
                <a:solidFill>
                  <a:schemeClr val="tx1"/>
                </a:solidFill>
              </a:rPr>
              <a:t> </a:t>
            </a:r>
          </a:p>
        </p:txBody>
      </p:sp>
    </p:spTree>
    <p:extLst>
      <p:ext uri="{BB962C8B-B14F-4D97-AF65-F5344CB8AC3E}">
        <p14:creationId xmlns:p14="http://schemas.microsoft.com/office/powerpoint/2010/main" val="2812588891"/>
      </p:ext>
    </p:extLst>
  </p:cSld>
  <p:clrMapOvr>
    <a:masterClrMapping/>
  </p:clrMapOvr>
</p:sld>
</file>

<file path=ppt/theme/theme1.xml><?xml version="1.0" encoding="utf-8"?>
<a:theme xmlns:a="http://schemas.openxmlformats.org/drawingml/2006/main" name="Editorial">
  <a:themeElements>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A923440E-1285-45C1-B66B-8630BD70D041}" vid="{F02A544F-3BB0-402C-9DE1-17A1995AA5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83E87D78-9CEC-4EE9-94B9-0F2EEEB8A065}">
  <ds:schemaRefs>
    <ds:schemaRef ds:uri="http://schemas.microsoft.com/sharepoint/v3/contenttype/forms"/>
  </ds:schemaRefs>
</ds:datastoreItem>
</file>

<file path=customXml/itemProps2.xml><?xml version="1.0" encoding="utf-8"?>
<ds:datastoreItem xmlns:ds="http://schemas.openxmlformats.org/officeDocument/2006/customXml" ds:itemID="{B0AEFF06-C01D-4782-9025-60F06DFEAF41}">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846201E-DF07-4095-9F76-DD2E789400A7}">
  <ds:schemaRefs>
    <ds:schemaRef ds:uri="http://schemas.microsoft.com/sharepoint/v3"/>
    <ds:schemaRef ds:uri="http://purl.org/dc/terms/"/>
    <ds:schemaRef ds:uri="http://purl.org/dc/elements/1.1/"/>
    <ds:schemaRef ds:uri="http://schemas.microsoft.com/office/2006/metadata/properties"/>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http://purl.org/dc/dcmitype/"/>
    <ds:schemaRef ds:uri="230e9df3-be65-4c73-a93b-d1236ebd677e"/>
    <ds:schemaRef ds:uri="16c05727-aa75-4e4a-9b5f-8a80a1165891"/>
    <ds:schemaRef ds:uri="71af3243-3dd4-4a8d-8c0d-dd76da1f02a5"/>
  </ds:schemaRefs>
</ds:datastoreItem>
</file>

<file path=docMetadata/LabelInfo.xml><?xml version="1.0" encoding="utf-8"?>
<clbl:labelList xmlns:clbl="http://schemas.microsoft.com/office/2020/mipLabelMetadata">
  <clbl:label id="{bb24e89f-6132-424b-9c64-0340397f5d20}" enabled="1" method="Privileged" siteId="{0159e9d0-09a0-4edf-96ba-a3deea363c28}" removed="0"/>
</clbl:labelList>
</file>

<file path=docProps/app.xml><?xml version="1.0" encoding="utf-8"?>
<Properties xmlns="http://schemas.openxmlformats.org/officeDocument/2006/extended-properties" xmlns:vt="http://schemas.openxmlformats.org/officeDocument/2006/docPropsVTypes">
  <Template>Editorial</Template>
  <TotalTime>0</TotalTime>
  <Words>1788</Words>
  <Application>Microsoft Macintosh PowerPoint</Application>
  <PresentationFormat>Widescreen</PresentationFormat>
  <Paragraphs>100</Paragraphs>
  <Slides>6</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Avenir Next LT Pro</vt:lpstr>
      <vt:lpstr>Calibri</vt:lpstr>
      <vt:lpstr>Haettenschweiler</vt:lpstr>
      <vt:lpstr>Trade Gothic Next Light</vt:lpstr>
      <vt:lpstr>Trade Gothic Next Rounded</vt:lpstr>
      <vt:lpstr>Editorial</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Suuda, Gangi Reddy @ Global D&amp;T Contractor</cp:lastModifiedBy>
  <cp:revision>8</cp:revision>
  <dcterms:created xsi:type="dcterms:W3CDTF">2025-08-04T19:41:08Z</dcterms:created>
  <dcterms:modified xsi:type="dcterms:W3CDTF">2026-10-12T05:20:10Z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