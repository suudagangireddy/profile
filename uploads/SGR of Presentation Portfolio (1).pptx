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embeddedFontLst>
    <p:embeddedFont>
      <p:font typeface="Work Sans Medium"/>
      <p:regular r:id="rId25"/>
      <p:bold r:id="rId26"/>
      <p:italic r:id="rId27"/>
      <p:boldItalic r:id="rId28"/>
    </p:embeddedFont>
    <p:embeddedFont>
      <p:font typeface="Work Sans Light"/>
      <p:regular r:id="rId29"/>
      <p:bold r:id="rId30"/>
      <p:italic r:id="rId31"/>
      <p:boldItalic r:id="rId32"/>
    </p:embeddedFont>
    <p:embeddedFont>
      <p:font typeface="Work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WorkSansMedium-bold.fntdata"/><Relationship Id="rId25" Type="http://schemas.openxmlformats.org/officeDocument/2006/relationships/font" Target="fonts/WorkSansMedium-regular.fntdata"/><Relationship Id="rId28" Type="http://schemas.openxmlformats.org/officeDocument/2006/relationships/font" Target="fonts/WorkSansMedium-boldItalic.fntdata"/><Relationship Id="rId27" Type="http://schemas.openxmlformats.org/officeDocument/2006/relationships/font" Target="fonts/WorkSansMedium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WorkSansLigh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WorkSansLight-italic.fntdata"/><Relationship Id="rId30" Type="http://schemas.openxmlformats.org/officeDocument/2006/relationships/font" Target="fonts/WorkSansLight-bold.fntdata"/><Relationship Id="rId11" Type="http://schemas.openxmlformats.org/officeDocument/2006/relationships/slide" Target="slides/slide7.xml"/><Relationship Id="rId33" Type="http://schemas.openxmlformats.org/officeDocument/2006/relationships/font" Target="fonts/WorkSans-regular.fntdata"/><Relationship Id="rId10" Type="http://schemas.openxmlformats.org/officeDocument/2006/relationships/slide" Target="slides/slide6.xml"/><Relationship Id="rId32" Type="http://schemas.openxmlformats.org/officeDocument/2006/relationships/font" Target="fonts/WorkSansLight-boldItalic.fntdata"/><Relationship Id="rId13" Type="http://schemas.openxmlformats.org/officeDocument/2006/relationships/slide" Target="slides/slide9.xml"/><Relationship Id="rId35" Type="http://schemas.openxmlformats.org/officeDocument/2006/relationships/font" Target="fonts/WorkSans-italic.fntdata"/><Relationship Id="rId12" Type="http://schemas.openxmlformats.org/officeDocument/2006/relationships/slide" Target="slides/slide8.xml"/><Relationship Id="rId34" Type="http://schemas.openxmlformats.org/officeDocument/2006/relationships/font" Target="fonts/WorkSans-bold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schemas.openxmlformats.org/officeDocument/2006/relationships/font" Target="fonts/WorkSans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e1c034a03b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2e1c034a03b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e684107fc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2e684107fc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e6855913c7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2e6855913c7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ed3692f0c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2ed3692f0c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ecbbdad32c_0_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ecbbdad32c_0_1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2ecbbdad32c_0_1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e64fac7fb8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2e64fac7fb8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73cc08102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273cc08102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e6855913c7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2e6855913c7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e1f1b0d30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e1f1b0d30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2e1f1b0d30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e1f1b0d303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e1f1b0d303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2e1f1b0d303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ec657c314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ec657c314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2ec657c314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e1f1b0d303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e1f1b0d303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2e1f1b0d303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e6556bc1a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e6556bc1a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2e6556bc1a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e1f1b0d303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2e1f1b0d303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2e1f1b0d303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73cbf389b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73cbf389b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273cbf389b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e1f1b0d303_0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e1f1b0d303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2e1f1b0d303_0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5451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610600" y="65451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610600" y="65451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8610600" y="65451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610600" y="65451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8610600" y="65451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5451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5451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5451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5451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5451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5451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16.png"/><Relationship Id="rId7" Type="http://schemas.openxmlformats.org/officeDocument/2006/relationships/image" Target="../media/image6.png"/><Relationship Id="rId8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3.png"/><Relationship Id="rId6" Type="http://schemas.openxmlformats.org/officeDocument/2006/relationships/image" Target="../media/image17.png"/><Relationship Id="rId7" Type="http://schemas.openxmlformats.org/officeDocument/2006/relationships/image" Target="../media/image1.png"/><Relationship Id="rId8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Relationship Id="rId4" Type="http://schemas.openxmlformats.org/officeDocument/2006/relationships/image" Target="../media/image30.png"/><Relationship Id="rId5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1159085" y="872747"/>
            <a:ext cx="465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9" name="Google Shape;89;p13"/>
          <p:cNvSpPr txBox="1"/>
          <p:nvPr/>
        </p:nvSpPr>
        <p:spPr>
          <a:xfrm>
            <a:off x="1314960" y="411047"/>
            <a:ext cx="4658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My work</a:t>
            </a:r>
            <a:endParaRPr sz="2400">
              <a:solidFill>
                <a:srgbClr val="323232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rgbClr val="32323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for </a:t>
            </a:r>
            <a:r>
              <a:rPr b="1" lang="en-US" sz="2400">
                <a:solidFill>
                  <a:srgbClr val="323232"/>
                </a:solidFill>
                <a:latin typeface="Work Sans"/>
                <a:ea typeface="Work Sans"/>
                <a:cs typeface="Work Sans"/>
                <a:sym typeface="Work Sans"/>
              </a:rPr>
              <a:t>BRANE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23232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0725" y="2376401"/>
            <a:ext cx="3060725" cy="23000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4774354" y="1763175"/>
            <a:ext cx="279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No Code Platform</a:t>
            </a:r>
            <a:endParaRPr/>
          </a:p>
        </p:txBody>
      </p:sp>
      <p:pic>
        <p:nvPicPr>
          <p:cNvPr id="92" name="Google Shape;92;p13">
            <a:hlinkClick action="ppaction://hlinkshowjump?jump=nextslide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1342" y="5572330"/>
            <a:ext cx="461714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" name="Google Shape;97;p14"/>
          <p:cNvCxnSpPr/>
          <p:nvPr/>
        </p:nvCxnSpPr>
        <p:spPr>
          <a:xfrm>
            <a:off x="515938" y="6534520"/>
            <a:ext cx="11168100" cy="0"/>
          </a:xfrm>
          <a:prstGeom prst="straightConnector1">
            <a:avLst/>
          </a:prstGeom>
          <a:noFill/>
          <a:ln cap="flat" cmpd="sng" w="9525">
            <a:solidFill>
              <a:srgbClr val="AEABA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8" name="Google Shape;98;p14"/>
          <p:cNvSpPr txBox="1"/>
          <p:nvPr/>
        </p:nvSpPr>
        <p:spPr>
          <a:xfrm>
            <a:off x="831260" y="509047"/>
            <a:ext cx="465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Product Overview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17852" y="1674688"/>
            <a:ext cx="10939500" cy="42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100">
                <a:solidFill>
                  <a:srgbClr val="323232"/>
                </a:solidFill>
              </a:rPr>
              <a:t>- Building Solutions/Applications in Natural Languages without writing or generating a Single Line of Code.</a:t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100">
                <a:solidFill>
                  <a:srgbClr val="323232"/>
                </a:solidFill>
              </a:rPr>
              <a:t>- The platform enables the development of enterprise-level applications (ERP, CRM,           SCM, Health Care etc.) using a natural solution language.</a:t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100">
                <a:solidFill>
                  <a:srgbClr val="323232"/>
                </a:solidFill>
              </a:rPr>
              <a:t>- Empowers SMEs, Students and Business owners without coding, UI, or UX expertise to create and deliver solutions.</a:t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100">
                <a:solidFill>
                  <a:srgbClr val="323232"/>
                </a:solidFill>
              </a:rPr>
              <a:t>- Reduces development time by more than 90% compared to traditional methods.</a:t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100">
                <a:solidFill>
                  <a:srgbClr val="323232"/>
                </a:solidFill>
              </a:rPr>
              <a:t>- Tailored to meet the needs of businesses across all industries.</a:t>
            </a:r>
            <a:endParaRPr b="1" sz="2100">
              <a:solidFill>
                <a:srgbClr val="32323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323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Google Shape;104;p15"/>
          <p:cNvCxnSpPr/>
          <p:nvPr/>
        </p:nvCxnSpPr>
        <p:spPr>
          <a:xfrm>
            <a:off x="515938" y="6534520"/>
            <a:ext cx="11168100" cy="0"/>
          </a:xfrm>
          <a:prstGeom prst="straightConnector1">
            <a:avLst/>
          </a:prstGeom>
          <a:noFill/>
          <a:ln cap="flat" cmpd="sng" w="9525">
            <a:solidFill>
              <a:srgbClr val="AEABA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p15"/>
          <p:cNvSpPr txBox="1"/>
          <p:nvPr/>
        </p:nvSpPr>
        <p:spPr>
          <a:xfrm>
            <a:off x="831260" y="509047"/>
            <a:ext cx="465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Challenges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17852" y="1674688"/>
            <a:ext cx="109395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100">
                <a:solidFill>
                  <a:srgbClr val="323232"/>
                </a:solidFill>
              </a:rPr>
              <a:t>- Mapping Data Types to the Natural Language.</a:t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100">
                <a:solidFill>
                  <a:srgbClr val="323232"/>
                </a:solidFill>
              </a:rPr>
              <a:t>- Aligning Database Structures to the Natural Language.</a:t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100">
                <a:solidFill>
                  <a:srgbClr val="323232"/>
                </a:solidFill>
              </a:rPr>
              <a:t>- Identification of UI controls using Natural Language.</a:t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100">
                <a:solidFill>
                  <a:srgbClr val="323232"/>
                </a:solidFill>
              </a:rPr>
              <a:t>- Creating Logic for the Application with basic queries.</a:t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100">
                <a:solidFill>
                  <a:srgbClr val="323232"/>
                </a:solidFill>
              </a:rPr>
              <a:t>- Dynamic process to to Auto Generate UI/UX with Natural Language.</a:t>
            </a:r>
            <a:endParaRPr b="1" sz="2100">
              <a:solidFill>
                <a:srgbClr val="32323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323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" name="Google Shape;111;p16"/>
          <p:cNvCxnSpPr/>
          <p:nvPr/>
        </p:nvCxnSpPr>
        <p:spPr>
          <a:xfrm>
            <a:off x="515938" y="6534520"/>
            <a:ext cx="11168100" cy="0"/>
          </a:xfrm>
          <a:prstGeom prst="straightConnector1">
            <a:avLst/>
          </a:prstGeom>
          <a:noFill/>
          <a:ln cap="flat" cmpd="sng" w="9525">
            <a:solidFill>
              <a:srgbClr val="AEABA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" name="Google Shape;112;p16"/>
          <p:cNvSpPr txBox="1"/>
          <p:nvPr/>
        </p:nvSpPr>
        <p:spPr>
          <a:xfrm>
            <a:off x="831260" y="509047"/>
            <a:ext cx="465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Target Audience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917852" y="1674688"/>
            <a:ext cx="109395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100">
                <a:solidFill>
                  <a:srgbClr val="323232"/>
                </a:solidFill>
              </a:rPr>
              <a:t>- SME`s and BA`s </a:t>
            </a:r>
            <a:r>
              <a:rPr b="1" lang="en-US" sz="2100">
                <a:solidFill>
                  <a:srgbClr val="323232"/>
                </a:solidFill>
              </a:rPr>
              <a:t>across</a:t>
            </a:r>
            <a:r>
              <a:rPr b="1" lang="en-US" sz="2100">
                <a:solidFill>
                  <a:srgbClr val="323232"/>
                </a:solidFill>
              </a:rPr>
              <a:t> industries.</a:t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100">
                <a:solidFill>
                  <a:srgbClr val="323232"/>
                </a:solidFill>
              </a:rPr>
              <a:t>- Students with basic computer skills.</a:t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100">
                <a:solidFill>
                  <a:srgbClr val="323232"/>
                </a:solidFill>
              </a:rPr>
              <a:t>- Audience having basic academic q</a:t>
            </a:r>
            <a:r>
              <a:rPr b="1" lang="en-US" sz="2100">
                <a:solidFill>
                  <a:srgbClr val="323232"/>
                </a:solidFill>
              </a:rPr>
              <a:t>ualification</a:t>
            </a:r>
            <a:r>
              <a:rPr b="1" lang="en-US" sz="2100">
                <a:solidFill>
                  <a:srgbClr val="323232"/>
                </a:solidFill>
              </a:rPr>
              <a:t> in any discipline.</a:t>
            </a:r>
            <a:endParaRPr b="1" sz="1500">
              <a:solidFill>
                <a:srgbClr val="32323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118;p17"/>
          <p:cNvCxnSpPr/>
          <p:nvPr/>
        </p:nvCxnSpPr>
        <p:spPr>
          <a:xfrm>
            <a:off x="515938" y="6534520"/>
            <a:ext cx="11168100" cy="0"/>
          </a:xfrm>
          <a:prstGeom prst="straightConnector1">
            <a:avLst/>
          </a:prstGeom>
          <a:noFill/>
          <a:ln cap="flat" cmpd="sng" w="9525">
            <a:solidFill>
              <a:srgbClr val="AEABA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9" name="Google Shape;119;p17"/>
          <p:cNvSpPr txBox="1"/>
          <p:nvPr/>
        </p:nvSpPr>
        <p:spPr>
          <a:xfrm>
            <a:off x="831260" y="509047"/>
            <a:ext cx="465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User Research Details</a:t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1014375" y="2162598"/>
            <a:ext cx="3179400" cy="1198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1172625" y="2202923"/>
            <a:ext cx="2862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10th Class Students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(CBSE and State Board)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1014375" y="3563418"/>
            <a:ext cx="3179400" cy="1198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1172625" y="3562368"/>
            <a:ext cx="2862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Engineering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multiple Branches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(CSE, Mechanical, ECE)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4362725" y="2120786"/>
            <a:ext cx="3179400" cy="1198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4520975" y="2279111"/>
            <a:ext cx="3021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Globally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diverse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Subject Matter Experts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4441775" y="3554493"/>
            <a:ext cx="3179400" cy="1198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4600025" y="3553443"/>
            <a:ext cx="2862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Analysts across domains.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917850" y="1491598"/>
            <a:ext cx="1845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23232"/>
                </a:solidFill>
              </a:rPr>
              <a:t>Resources</a:t>
            </a:r>
            <a:endParaRPr b="1" sz="1500">
              <a:solidFill>
                <a:srgbClr val="323232"/>
              </a:solidFill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7845025" y="1491598"/>
            <a:ext cx="2059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23232"/>
                </a:solidFill>
              </a:rPr>
              <a:t>Methods</a:t>
            </a:r>
            <a:endParaRPr b="1" sz="1500">
              <a:solidFill>
                <a:srgbClr val="323232"/>
              </a:solidFill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8027425" y="2162598"/>
            <a:ext cx="36567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-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Person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User Interviews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-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Survey Forms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-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 the Video Interviews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7936225" y="3742123"/>
            <a:ext cx="3366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23232"/>
                </a:solidFill>
              </a:rPr>
              <a:t>Analytics Objectives</a:t>
            </a:r>
            <a:endParaRPr b="1" sz="1500">
              <a:solidFill>
                <a:srgbClr val="323232"/>
              </a:solidFill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8118625" y="4413123"/>
            <a:ext cx="36567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-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Curve Time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-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 Completion Rate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-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Happy flow index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>
            <p:ph idx="12" type="sldNum"/>
          </p:nvPr>
        </p:nvSpPr>
        <p:spPr>
          <a:xfrm>
            <a:off x="8610600" y="6545191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827772" y="573800"/>
            <a:ext cx="243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Benchmark </a:t>
            </a:r>
            <a:endParaRPr/>
          </a:p>
        </p:txBody>
      </p:sp>
      <p:pic>
        <p:nvPicPr>
          <p:cNvPr id="140" name="Google Shape;14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7275" y="2870838"/>
            <a:ext cx="2843826" cy="149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0365" y="4711588"/>
            <a:ext cx="3571082" cy="152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84300" y="1376075"/>
            <a:ext cx="44196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35275" y="2970733"/>
            <a:ext cx="2843824" cy="1520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33924" y="4832050"/>
            <a:ext cx="1329024" cy="8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76114" y="1479924"/>
            <a:ext cx="4419599" cy="1111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0" name="Google Shape;150;p19"/>
          <p:cNvCxnSpPr/>
          <p:nvPr/>
        </p:nvCxnSpPr>
        <p:spPr>
          <a:xfrm>
            <a:off x="515938" y="6534520"/>
            <a:ext cx="11168100" cy="0"/>
          </a:xfrm>
          <a:prstGeom prst="straightConnector1">
            <a:avLst/>
          </a:prstGeom>
          <a:noFill/>
          <a:ln cap="flat" cmpd="sng" w="9525">
            <a:solidFill>
              <a:srgbClr val="AEABA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1" name="Google Shape;151;p19"/>
          <p:cNvSpPr txBox="1"/>
          <p:nvPr/>
        </p:nvSpPr>
        <p:spPr>
          <a:xfrm>
            <a:off x="831260" y="509047"/>
            <a:ext cx="4658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rgbClr val="32323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Design Systems | Runtime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23232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917852" y="1674688"/>
            <a:ext cx="109395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100">
                <a:solidFill>
                  <a:srgbClr val="323232"/>
                </a:solidFill>
              </a:rPr>
              <a:t>- Developed an automated design system with dynamic runtime generation.</a:t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100">
                <a:solidFill>
                  <a:srgbClr val="323232"/>
                </a:solidFill>
              </a:rPr>
              <a:t>- Enabled granular level customizations on top of default generated Applications.</a:t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100">
                <a:solidFill>
                  <a:srgbClr val="323232"/>
                </a:solidFill>
              </a:rPr>
              <a:t>- Facilitated instant UI/UX changes on the platform for Applications.</a:t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100">
                <a:solidFill>
                  <a:srgbClr val="323232"/>
                </a:solidFill>
              </a:rPr>
              <a:t>- Supported comprehensive component-level responsiveness and instant changes.</a:t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323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rgbClr val="323232"/>
                </a:solidFill>
              </a:rPr>
              <a:t>- Ensured device-friendly compatibility across various devices.</a:t>
            </a:r>
            <a:endParaRPr b="1" sz="2100">
              <a:solidFill>
                <a:srgbClr val="32323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32323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/>
          <p:nvPr/>
        </p:nvSpPr>
        <p:spPr>
          <a:xfrm>
            <a:off x="0" y="-1"/>
            <a:ext cx="5046971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p20"/>
          <p:cNvCxnSpPr/>
          <p:nvPr/>
        </p:nvCxnSpPr>
        <p:spPr>
          <a:xfrm>
            <a:off x="515938" y="6534520"/>
            <a:ext cx="11168241" cy="0"/>
          </a:xfrm>
          <a:prstGeom prst="straightConnector1">
            <a:avLst/>
          </a:prstGeom>
          <a:noFill/>
          <a:ln cap="flat" cmpd="sng" w="9525">
            <a:solidFill>
              <a:srgbClr val="AEABA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9" name="Google Shape;159;p20"/>
          <p:cNvSpPr txBox="1"/>
          <p:nvPr/>
        </p:nvSpPr>
        <p:spPr>
          <a:xfrm>
            <a:off x="407717" y="461347"/>
            <a:ext cx="4231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Runtime</a:t>
            </a:r>
            <a:endParaRPr sz="2400">
              <a:solidFill>
                <a:srgbClr val="323232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Customization Areas</a:t>
            </a:r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5660775" y="4822595"/>
            <a:ext cx="517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Data types /</a:t>
            </a:r>
            <a:r>
              <a:rPr lang="en-US" sz="2400">
                <a:solidFill>
                  <a:srgbClr val="323232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UI Controls</a:t>
            </a:r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5656492" y="5411971"/>
            <a:ext cx="590821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2323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Customization Options for Entity View Styles to Suit Different Business Needs</a:t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8610600" y="65451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8285868" y="2715794"/>
            <a:ext cx="418102" cy="418102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8285868" y="3610690"/>
            <a:ext cx="418102" cy="418102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8285868" y="1474882"/>
            <a:ext cx="418102" cy="418102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6" name="Google Shape;166;p20"/>
          <p:cNvGrpSpPr/>
          <p:nvPr/>
        </p:nvGrpSpPr>
        <p:grpSpPr>
          <a:xfrm>
            <a:off x="5490751" y="1339056"/>
            <a:ext cx="2935818" cy="901581"/>
            <a:chOff x="5490751" y="1339056"/>
            <a:chExt cx="2935818" cy="901581"/>
          </a:xfrm>
        </p:grpSpPr>
        <p:grpSp>
          <p:nvGrpSpPr>
            <p:cNvPr id="167" name="Google Shape;167;p20"/>
            <p:cNvGrpSpPr/>
            <p:nvPr/>
          </p:nvGrpSpPr>
          <p:grpSpPr>
            <a:xfrm>
              <a:off x="5490751" y="1339056"/>
              <a:ext cx="2935818" cy="901581"/>
              <a:chOff x="5490751" y="1339056"/>
              <a:chExt cx="2935818" cy="1153219"/>
            </a:xfrm>
          </p:grpSpPr>
          <p:sp>
            <p:nvSpPr>
              <p:cNvPr id="168" name="Google Shape;168;p20"/>
              <p:cNvSpPr/>
              <p:nvPr/>
            </p:nvSpPr>
            <p:spPr>
              <a:xfrm>
                <a:off x="5490751" y="1339056"/>
                <a:ext cx="2935818" cy="1153219"/>
              </a:xfrm>
              <a:prstGeom prst="rect">
                <a:avLst/>
              </a:prstGeom>
              <a:solidFill>
                <a:srgbClr val="E3E4F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20"/>
              <p:cNvSpPr txBox="1"/>
              <p:nvPr/>
            </p:nvSpPr>
            <p:spPr>
              <a:xfrm>
                <a:off x="5558386" y="1698238"/>
                <a:ext cx="1991533" cy="4724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323232"/>
                    </a:solidFill>
                    <a:latin typeface="Arial"/>
                    <a:ea typeface="Arial"/>
                    <a:cs typeface="Arial"/>
                    <a:sym typeface="Arial"/>
                  </a:rPr>
                  <a:t>Form </a:t>
                </a:r>
                <a:endParaRPr/>
              </a:p>
            </p:txBody>
          </p:sp>
        </p:grpSp>
        <p:sp>
          <p:nvSpPr>
            <p:cNvPr id="170" name="Google Shape;170;p20"/>
            <p:cNvSpPr/>
            <p:nvPr/>
          </p:nvSpPr>
          <p:spPr>
            <a:xfrm>
              <a:off x="7841268" y="1525955"/>
              <a:ext cx="448242" cy="448242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C9AE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1" name="Google Shape;171;p20"/>
          <p:cNvGrpSpPr/>
          <p:nvPr/>
        </p:nvGrpSpPr>
        <p:grpSpPr>
          <a:xfrm>
            <a:off x="8516138" y="1339057"/>
            <a:ext cx="2935818" cy="901579"/>
            <a:chOff x="8516138" y="1339057"/>
            <a:chExt cx="2935818" cy="901579"/>
          </a:xfrm>
        </p:grpSpPr>
        <p:grpSp>
          <p:nvGrpSpPr>
            <p:cNvPr id="172" name="Google Shape;172;p20"/>
            <p:cNvGrpSpPr/>
            <p:nvPr/>
          </p:nvGrpSpPr>
          <p:grpSpPr>
            <a:xfrm>
              <a:off x="8516138" y="1339057"/>
              <a:ext cx="2935818" cy="901579"/>
              <a:chOff x="8516138" y="1339057"/>
              <a:chExt cx="2935818" cy="1153217"/>
            </a:xfrm>
          </p:grpSpPr>
          <p:sp>
            <p:nvSpPr>
              <p:cNvPr id="173" name="Google Shape;173;p20"/>
              <p:cNvSpPr/>
              <p:nvPr/>
            </p:nvSpPr>
            <p:spPr>
              <a:xfrm>
                <a:off x="8516138" y="1339057"/>
                <a:ext cx="2935818" cy="1153217"/>
              </a:xfrm>
              <a:prstGeom prst="rect">
                <a:avLst/>
              </a:prstGeom>
              <a:solidFill>
                <a:srgbClr val="FEEED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20"/>
              <p:cNvSpPr txBox="1"/>
              <p:nvPr/>
            </p:nvSpPr>
            <p:spPr>
              <a:xfrm>
                <a:off x="8602312" y="1689662"/>
                <a:ext cx="2107020" cy="4724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323232"/>
                    </a:solidFill>
                    <a:latin typeface="Arial"/>
                    <a:ea typeface="Arial"/>
                    <a:cs typeface="Arial"/>
                    <a:sym typeface="Arial"/>
                  </a:rPr>
                  <a:t>Table</a:t>
                </a:r>
                <a:endParaRPr/>
              </a:p>
            </p:txBody>
          </p:sp>
        </p:grpSp>
        <p:sp>
          <p:nvSpPr>
            <p:cNvPr id="175" name="Google Shape;175;p20"/>
            <p:cNvSpPr/>
            <p:nvPr/>
          </p:nvSpPr>
          <p:spPr>
            <a:xfrm>
              <a:off x="10856523" y="1535893"/>
              <a:ext cx="448242" cy="448242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FEE59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6" name="Google Shape;176;p20"/>
          <p:cNvGrpSpPr/>
          <p:nvPr/>
        </p:nvGrpSpPr>
        <p:grpSpPr>
          <a:xfrm>
            <a:off x="5490751" y="2406960"/>
            <a:ext cx="2935818" cy="901581"/>
            <a:chOff x="5490751" y="2579968"/>
            <a:chExt cx="2935818" cy="901581"/>
          </a:xfrm>
        </p:grpSpPr>
        <p:grpSp>
          <p:nvGrpSpPr>
            <p:cNvPr id="177" name="Google Shape;177;p20"/>
            <p:cNvGrpSpPr/>
            <p:nvPr/>
          </p:nvGrpSpPr>
          <p:grpSpPr>
            <a:xfrm>
              <a:off x="5490751" y="2579968"/>
              <a:ext cx="2935818" cy="901581"/>
              <a:chOff x="5490751" y="2579968"/>
              <a:chExt cx="2935818" cy="1153219"/>
            </a:xfrm>
          </p:grpSpPr>
          <p:sp>
            <p:nvSpPr>
              <p:cNvPr id="178" name="Google Shape;178;p20"/>
              <p:cNvSpPr/>
              <p:nvPr/>
            </p:nvSpPr>
            <p:spPr>
              <a:xfrm>
                <a:off x="5490751" y="2579968"/>
                <a:ext cx="2935818" cy="1153219"/>
              </a:xfrm>
              <a:prstGeom prst="rect">
                <a:avLst/>
              </a:prstGeom>
              <a:solidFill>
                <a:srgbClr val="E6F4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20"/>
              <p:cNvSpPr txBox="1"/>
              <p:nvPr/>
            </p:nvSpPr>
            <p:spPr>
              <a:xfrm>
                <a:off x="5550492" y="2884330"/>
                <a:ext cx="2411764" cy="4724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323232"/>
                    </a:solidFill>
                    <a:latin typeface="Arial"/>
                    <a:ea typeface="Arial"/>
                    <a:cs typeface="Arial"/>
                    <a:sym typeface="Arial"/>
                  </a:rPr>
                  <a:t>Card</a:t>
                </a:r>
                <a:endParaRPr/>
              </a:p>
            </p:txBody>
          </p:sp>
        </p:grpSp>
        <p:sp>
          <p:nvSpPr>
            <p:cNvPr id="180" name="Google Shape;180;p20"/>
            <p:cNvSpPr/>
            <p:nvPr/>
          </p:nvSpPr>
          <p:spPr>
            <a:xfrm>
              <a:off x="7841268" y="2766594"/>
              <a:ext cx="448242" cy="448242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20"/>
          <p:cNvGrpSpPr/>
          <p:nvPr/>
        </p:nvGrpSpPr>
        <p:grpSpPr>
          <a:xfrm>
            <a:off x="8516138" y="2406961"/>
            <a:ext cx="2935818" cy="901579"/>
            <a:chOff x="8516138" y="2579969"/>
            <a:chExt cx="2935818" cy="901579"/>
          </a:xfrm>
        </p:grpSpPr>
        <p:grpSp>
          <p:nvGrpSpPr>
            <p:cNvPr id="182" name="Google Shape;182;p20"/>
            <p:cNvGrpSpPr/>
            <p:nvPr/>
          </p:nvGrpSpPr>
          <p:grpSpPr>
            <a:xfrm>
              <a:off x="8516138" y="2579969"/>
              <a:ext cx="2935818" cy="901579"/>
              <a:chOff x="8516138" y="2579969"/>
              <a:chExt cx="2935818" cy="1153217"/>
            </a:xfrm>
          </p:grpSpPr>
          <p:sp>
            <p:nvSpPr>
              <p:cNvPr id="183" name="Google Shape;183;p20"/>
              <p:cNvSpPr/>
              <p:nvPr/>
            </p:nvSpPr>
            <p:spPr>
              <a:xfrm>
                <a:off x="8516138" y="2579969"/>
                <a:ext cx="2935818" cy="1153217"/>
              </a:xfrm>
              <a:prstGeom prst="rect">
                <a:avLst/>
              </a:prstGeom>
              <a:solidFill>
                <a:srgbClr val="E7EEE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20"/>
              <p:cNvSpPr txBox="1"/>
              <p:nvPr/>
            </p:nvSpPr>
            <p:spPr>
              <a:xfrm>
                <a:off x="8585124" y="2874803"/>
                <a:ext cx="2107020" cy="4527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700">
                    <a:solidFill>
                      <a:srgbClr val="323232"/>
                    </a:solidFill>
                  </a:rPr>
                  <a:t>Accordion</a:t>
                </a:r>
                <a:endParaRPr b="1" sz="1700">
                  <a:solidFill>
                    <a:srgbClr val="32323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5" name="Google Shape;185;p20"/>
            <p:cNvSpPr/>
            <p:nvPr/>
          </p:nvSpPr>
          <p:spPr>
            <a:xfrm>
              <a:off x="10856523" y="2770439"/>
              <a:ext cx="448242" cy="448242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A8D08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" name="Google Shape;186;p20"/>
          <p:cNvGrpSpPr/>
          <p:nvPr/>
        </p:nvGrpSpPr>
        <p:grpSpPr>
          <a:xfrm>
            <a:off x="5490751" y="3474864"/>
            <a:ext cx="2935818" cy="901581"/>
            <a:chOff x="5490751" y="3474864"/>
            <a:chExt cx="2935818" cy="901581"/>
          </a:xfrm>
        </p:grpSpPr>
        <p:grpSp>
          <p:nvGrpSpPr>
            <p:cNvPr id="187" name="Google Shape;187;p20"/>
            <p:cNvGrpSpPr/>
            <p:nvPr/>
          </p:nvGrpSpPr>
          <p:grpSpPr>
            <a:xfrm>
              <a:off x="5490751" y="3474864"/>
              <a:ext cx="2935818" cy="901581"/>
              <a:chOff x="5490751" y="3808693"/>
              <a:chExt cx="2935818" cy="1153219"/>
            </a:xfrm>
          </p:grpSpPr>
          <p:sp>
            <p:nvSpPr>
              <p:cNvPr id="188" name="Google Shape;188;p20"/>
              <p:cNvSpPr/>
              <p:nvPr/>
            </p:nvSpPr>
            <p:spPr>
              <a:xfrm>
                <a:off x="5490751" y="3808693"/>
                <a:ext cx="2935818" cy="1153219"/>
              </a:xfrm>
              <a:prstGeom prst="rect">
                <a:avLst/>
              </a:prstGeom>
              <a:solidFill>
                <a:srgbClr val="FFF4D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20"/>
              <p:cNvSpPr txBox="1"/>
              <p:nvPr/>
            </p:nvSpPr>
            <p:spPr>
              <a:xfrm>
                <a:off x="5546920" y="4149094"/>
                <a:ext cx="1991533" cy="4724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323232"/>
                    </a:solidFill>
                    <a:latin typeface="Arial"/>
                    <a:ea typeface="Arial"/>
                    <a:cs typeface="Arial"/>
                    <a:sym typeface="Arial"/>
                  </a:rPr>
                  <a:t>Vertical Table</a:t>
                </a:r>
                <a:endParaRPr/>
              </a:p>
            </p:txBody>
          </p:sp>
        </p:grpSp>
        <p:sp>
          <p:nvSpPr>
            <p:cNvPr id="190" name="Google Shape;190;p20"/>
            <p:cNvSpPr/>
            <p:nvPr/>
          </p:nvSpPr>
          <p:spPr>
            <a:xfrm>
              <a:off x="7841268" y="3654031"/>
              <a:ext cx="448242" cy="448242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FFD96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1" name="Google Shape;191;p20"/>
          <p:cNvGrpSpPr/>
          <p:nvPr/>
        </p:nvGrpSpPr>
        <p:grpSpPr>
          <a:xfrm>
            <a:off x="8516138" y="3474865"/>
            <a:ext cx="2935818" cy="901579"/>
            <a:chOff x="8516138" y="3474865"/>
            <a:chExt cx="2935818" cy="901579"/>
          </a:xfrm>
        </p:grpSpPr>
        <p:grpSp>
          <p:nvGrpSpPr>
            <p:cNvPr id="192" name="Google Shape;192;p20"/>
            <p:cNvGrpSpPr/>
            <p:nvPr/>
          </p:nvGrpSpPr>
          <p:grpSpPr>
            <a:xfrm>
              <a:off x="8516138" y="3474865"/>
              <a:ext cx="2935818" cy="901579"/>
              <a:chOff x="8516138" y="3808694"/>
              <a:chExt cx="2935818" cy="1153217"/>
            </a:xfrm>
          </p:grpSpPr>
          <p:sp>
            <p:nvSpPr>
              <p:cNvPr id="193" name="Google Shape;193;p20"/>
              <p:cNvSpPr/>
              <p:nvPr/>
            </p:nvSpPr>
            <p:spPr>
              <a:xfrm>
                <a:off x="8516138" y="3808694"/>
                <a:ext cx="2935818" cy="1153217"/>
              </a:xfrm>
              <a:prstGeom prst="rect">
                <a:avLst/>
              </a:prstGeom>
              <a:solidFill>
                <a:srgbClr val="F1ED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20"/>
              <p:cNvSpPr txBox="1"/>
              <p:nvPr/>
            </p:nvSpPr>
            <p:spPr>
              <a:xfrm>
                <a:off x="8558778" y="4081322"/>
                <a:ext cx="2107020" cy="4724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323232"/>
                    </a:solidFill>
                    <a:latin typeface="Arial"/>
                    <a:ea typeface="Arial"/>
                    <a:cs typeface="Arial"/>
                    <a:sym typeface="Arial"/>
                  </a:rPr>
                  <a:t>Widgets</a:t>
                </a:r>
                <a:endParaRPr/>
              </a:p>
            </p:txBody>
          </p:sp>
        </p:grpSp>
        <p:sp>
          <p:nvSpPr>
            <p:cNvPr id="195" name="Google Shape;195;p20"/>
            <p:cNvSpPr/>
            <p:nvPr/>
          </p:nvSpPr>
          <p:spPr>
            <a:xfrm>
              <a:off x="10850636" y="3631350"/>
              <a:ext cx="448242" cy="448242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C9AE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white cell phone with purple dots&#10;&#10;Description automatically generated" id="196" name="Google Shape;1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9721" y="3684306"/>
            <a:ext cx="369332" cy="3693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urple lines on a black background&#10;&#10;Description automatically generated" id="197" name="Google Shape;19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9721" y="1544255"/>
            <a:ext cx="374956" cy="371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27482" y="3721847"/>
            <a:ext cx="281057" cy="267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01000" y="2663063"/>
            <a:ext cx="374652" cy="374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28879" y="2706251"/>
            <a:ext cx="267420" cy="231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945819" y="1677820"/>
            <a:ext cx="275867" cy="191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"/>
          <p:cNvSpPr/>
          <p:nvPr/>
        </p:nvSpPr>
        <p:spPr>
          <a:xfrm>
            <a:off x="0" y="-1"/>
            <a:ext cx="50469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21"/>
          <p:cNvCxnSpPr/>
          <p:nvPr/>
        </p:nvCxnSpPr>
        <p:spPr>
          <a:xfrm>
            <a:off x="515938" y="6534520"/>
            <a:ext cx="11168100" cy="0"/>
          </a:xfrm>
          <a:prstGeom prst="straightConnector1">
            <a:avLst/>
          </a:prstGeom>
          <a:noFill/>
          <a:ln cap="flat" cmpd="sng" w="9525">
            <a:solidFill>
              <a:srgbClr val="AEABA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8" name="Google Shape;208;p21"/>
          <p:cNvSpPr txBox="1"/>
          <p:nvPr/>
        </p:nvSpPr>
        <p:spPr>
          <a:xfrm>
            <a:off x="8610600" y="654519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9" name="Google Shape;209;p21"/>
          <p:cNvGrpSpPr/>
          <p:nvPr/>
        </p:nvGrpSpPr>
        <p:grpSpPr>
          <a:xfrm>
            <a:off x="5046971" y="1060000"/>
            <a:ext cx="6846028" cy="4116659"/>
            <a:chOff x="1492425" y="1426250"/>
            <a:chExt cx="9215275" cy="5118949"/>
          </a:xfrm>
        </p:grpSpPr>
        <p:pic>
          <p:nvPicPr>
            <p:cNvPr id="210" name="Google Shape;210;p21"/>
            <p:cNvPicPr preferRelativeResize="0"/>
            <p:nvPr/>
          </p:nvPicPr>
          <p:blipFill rotWithShape="1">
            <a:blip r:embed="rId3">
              <a:alphaModFix/>
            </a:blip>
            <a:srcRect b="0" l="-2459" r="0" t="0"/>
            <a:stretch/>
          </p:blipFill>
          <p:spPr>
            <a:xfrm>
              <a:off x="1492425" y="1426250"/>
              <a:ext cx="9215275" cy="51189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phone&#10;&#10;Description automatically generated" id="211" name="Google Shape;211;p21"/>
            <p:cNvPicPr preferRelativeResize="0"/>
            <p:nvPr/>
          </p:nvPicPr>
          <p:blipFill rotWithShape="1">
            <a:blip r:embed="rId4">
              <a:alphaModFix/>
            </a:blip>
            <a:srcRect b="70637" l="0" r="0" t="0"/>
            <a:stretch/>
          </p:blipFill>
          <p:spPr>
            <a:xfrm>
              <a:off x="3645592" y="2955950"/>
              <a:ext cx="5288976" cy="340615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2" name="Google Shape;212;p21"/>
          <p:cNvSpPr txBox="1"/>
          <p:nvPr/>
        </p:nvSpPr>
        <p:spPr>
          <a:xfrm>
            <a:off x="407717" y="461347"/>
            <a:ext cx="423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Dynamic </a:t>
            </a:r>
            <a:r>
              <a:rPr lang="en-US" sz="2400">
                <a:solidFill>
                  <a:srgbClr val="32323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Builder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"/>
          <p:cNvSpPr/>
          <p:nvPr/>
        </p:nvSpPr>
        <p:spPr>
          <a:xfrm>
            <a:off x="0" y="-1"/>
            <a:ext cx="50469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p22"/>
          <p:cNvCxnSpPr/>
          <p:nvPr/>
        </p:nvCxnSpPr>
        <p:spPr>
          <a:xfrm>
            <a:off x="515938" y="6534520"/>
            <a:ext cx="11168100" cy="0"/>
          </a:xfrm>
          <a:prstGeom prst="straightConnector1">
            <a:avLst/>
          </a:prstGeom>
          <a:noFill/>
          <a:ln cap="flat" cmpd="sng" w="9525">
            <a:solidFill>
              <a:srgbClr val="AEABA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9" name="Google Shape;219;p22"/>
          <p:cNvSpPr txBox="1"/>
          <p:nvPr/>
        </p:nvSpPr>
        <p:spPr>
          <a:xfrm>
            <a:off x="407717" y="461347"/>
            <a:ext cx="423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Output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414067" y="1056591"/>
            <a:ext cx="4231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5660775" y="4822595"/>
            <a:ext cx="517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Landing Pages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5656492" y="5411971"/>
            <a:ext cx="5908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2323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Custom Landing Screens to Suit Business Requirements. DIV Approach for both Dynamic and Static Page Creation.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8610600" y="654519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phone&#10;&#10;Description automatically generated" id="224" name="Google Shape;224;p22"/>
          <p:cNvPicPr preferRelativeResize="0"/>
          <p:nvPr/>
        </p:nvPicPr>
        <p:blipFill rotWithShape="1">
          <a:blip r:embed="rId3">
            <a:alphaModFix/>
          </a:blip>
          <a:srcRect b="70637" l="0" r="0" t="0"/>
          <a:stretch/>
        </p:blipFill>
        <p:spPr>
          <a:xfrm>
            <a:off x="5454688" y="461425"/>
            <a:ext cx="3921794" cy="25256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website&#10;&#10;Description automatically generated" id="225" name="Google Shape;225;p22"/>
          <p:cNvPicPr preferRelativeResize="0"/>
          <p:nvPr/>
        </p:nvPicPr>
        <p:blipFill rotWithShape="1">
          <a:blip r:embed="rId4">
            <a:alphaModFix/>
          </a:blip>
          <a:srcRect b="66464" l="0" r="0" t="0"/>
          <a:stretch/>
        </p:blipFill>
        <p:spPr>
          <a:xfrm>
            <a:off x="8348935" y="906780"/>
            <a:ext cx="3152379" cy="2854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video game&#10;&#10;Description automatically generated" id="226" name="Google Shape;226;p22"/>
          <p:cNvPicPr preferRelativeResize="0"/>
          <p:nvPr/>
        </p:nvPicPr>
        <p:blipFill rotWithShape="1">
          <a:blip r:embed="rId5">
            <a:alphaModFix/>
          </a:blip>
          <a:srcRect b="58753" l="0" r="0" t="0"/>
          <a:stretch/>
        </p:blipFill>
        <p:spPr>
          <a:xfrm>
            <a:off x="6255860" y="2275246"/>
            <a:ext cx="3832935" cy="2362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231" name="Google Shape;231;p23"/>
          <p:cNvPicPr preferRelativeResize="0"/>
          <p:nvPr/>
        </p:nvPicPr>
        <p:blipFill rotWithShape="1">
          <a:blip r:embed="rId3">
            <a:alphaModFix/>
          </a:blip>
          <a:srcRect b="35779" l="8744" r="11293" t="0"/>
          <a:stretch/>
        </p:blipFill>
        <p:spPr>
          <a:xfrm>
            <a:off x="5263102" y="503659"/>
            <a:ext cx="4160526" cy="23899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32" name="Google Shape;232;p23"/>
          <p:cNvPicPr preferRelativeResize="0"/>
          <p:nvPr/>
        </p:nvPicPr>
        <p:blipFill rotWithShape="1">
          <a:blip r:embed="rId4">
            <a:alphaModFix/>
          </a:blip>
          <a:srcRect b="29990" l="0" r="10585" t="0"/>
          <a:stretch/>
        </p:blipFill>
        <p:spPr>
          <a:xfrm>
            <a:off x="8311528" y="1073588"/>
            <a:ext cx="3838851" cy="252606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/>
          <p:nvPr/>
        </p:nvSpPr>
        <p:spPr>
          <a:xfrm>
            <a:off x="0" y="-1"/>
            <a:ext cx="5046971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4" name="Google Shape;234;p23"/>
          <p:cNvCxnSpPr/>
          <p:nvPr/>
        </p:nvCxnSpPr>
        <p:spPr>
          <a:xfrm>
            <a:off x="515938" y="6534520"/>
            <a:ext cx="11168241" cy="0"/>
          </a:xfrm>
          <a:prstGeom prst="straightConnector1">
            <a:avLst/>
          </a:prstGeom>
          <a:noFill/>
          <a:ln cap="flat" cmpd="sng" w="9525">
            <a:solidFill>
              <a:srgbClr val="AEABA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5" name="Google Shape;235;p23"/>
          <p:cNvSpPr txBox="1"/>
          <p:nvPr/>
        </p:nvSpPr>
        <p:spPr>
          <a:xfrm>
            <a:off x="407717" y="461347"/>
            <a:ext cx="423153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Customization Areas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414067" y="1056591"/>
            <a:ext cx="423153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2323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Customizing Solutions to Suit Client Requirement 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5660775" y="4822595"/>
            <a:ext cx="5177117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Transaction Screens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5656492" y="5411971"/>
            <a:ext cx="590821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2323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Custom Transaction Screens for Different Solution Designs. Templatized approach for cleaner and faster implementation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8610600" y="65451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Description automatically generated" id="240" name="Google Shape;240;p23"/>
          <p:cNvPicPr preferRelativeResize="0"/>
          <p:nvPr/>
        </p:nvPicPr>
        <p:blipFill rotWithShape="1">
          <a:blip r:embed="rId5">
            <a:alphaModFix/>
          </a:blip>
          <a:srcRect b="34798" l="0" r="0" t="0"/>
          <a:stretch/>
        </p:blipFill>
        <p:spPr>
          <a:xfrm>
            <a:off x="5896161" y="2243649"/>
            <a:ext cx="4334792" cy="2033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/>
          <p:nvPr/>
        </p:nvSpPr>
        <p:spPr>
          <a:xfrm>
            <a:off x="0" y="-1"/>
            <a:ext cx="5046971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24"/>
          <p:cNvCxnSpPr/>
          <p:nvPr/>
        </p:nvCxnSpPr>
        <p:spPr>
          <a:xfrm>
            <a:off x="515938" y="6534520"/>
            <a:ext cx="11168241" cy="0"/>
          </a:xfrm>
          <a:prstGeom prst="straightConnector1">
            <a:avLst/>
          </a:prstGeom>
          <a:noFill/>
          <a:ln cap="flat" cmpd="sng" w="9525">
            <a:solidFill>
              <a:srgbClr val="AEABA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7" name="Google Shape;247;p24"/>
          <p:cNvSpPr txBox="1"/>
          <p:nvPr/>
        </p:nvSpPr>
        <p:spPr>
          <a:xfrm>
            <a:off x="407717" y="461347"/>
            <a:ext cx="423153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Customization Areas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414067" y="1056591"/>
            <a:ext cx="423153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2323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Customizing Solutions to Suit Client Requirement 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5660775" y="4822595"/>
            <a:ext cx="517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Data Types / </a:t>
            </a:r>
            <a:r>
              <a:rPr lang="en-US" sz="2400">
                <a:solidFill>
                  <a:srgbClr val="323232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UI Controls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5656492" y="5411971"/>
            <a:ext cx="590821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2323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Customization Options for Entity View Styles to Suit Different Business Needs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8610600" y="654519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0954" y="646268"/>
            <a:ext cx="4791246" cy="2033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14889" y="1226021"/>
            <a:ext cx="5177118" cy="16403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54" name="Google Shape;254;p24"/>
          <p:cNvPicPr preferRelativeResize="0"/>
          <p:nvPr/>
        </p:nvPicPr>
        <p:blipFill rotWithShape="1">
          <a:blip r:embed="rId5">
            <a:alphaModFix/>
          </a:blip>
          <a:srcRect b="26068" l="0" r="0" t="11023"/>
          <a:stretch/>
        </p:blipFill>
        <p:spPr>
          <a:xfrm>
            <a:off x="5582288" y="2210928"/>
            <a:ext cx="5177117" cy="2033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"/>
          <p:cNvSpPr txBox="1"/>
          <p:nvPr>
            <p:ph idx="12" type="sldNum"/>
          </p:nvPr>
        </p:nvSpPr>
        <p:spPr>
          <a:xfrm>
            <a:off x="8610600" y="6545191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1145003" y="444350"/>
            <a:ext cx="8709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Following are executed outputs by the design system and No code Platform.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6"/>
          <p:cNvSpPr txBox="1"/>
          <p:nvPr>
            <p:ph idx="12" type="sldNum"/>
          </p:nvPr>
        </p:nvSpPr>
        <p:spPr>
          <a:xfrm>
            <a:off x="8610600" y="6545191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8" name="Google Shape;268;p26"/>
          <p:cNvPicPr preferRelativeResize="0"/>
          <p:nvPr/>
        </p:nvPicPr>
        <p:blipFill rotWithShape="1">
          <a:blip r:embed="rId3">
            <a:alphaModFix/>
          </a:blip>
          <a:srcRect b="0" l="0" r="0" t="12618"/>
          <a:stretch/>
        </p:blipFill>
        <p:spPr>
          <a:xfrm>
            <a:off x="676200" y="366200"/>
            <a:ext cx="10972800" cy="599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7"/>
          <p:cNvSpPr txBox="1"/>
          <p:nvPr>
            <p:ph idx="12" type="sldNum"/>
          </p:nvPr>
        </p:nvSpPr>
        <p:spPr>
          <a:xfrm>
            <a:off x="8610600" y="6545191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5" name="Google Shape;275;p27"/>
          <p:cNvPicPr preferRelativeResize="0"/>
          <p:nvPr/>
        </p:nvPicPr>
        <p:blipFill rotWithShape="1">
          <a:blip r:embed="rId3">
            <a:alphaModFix/>
          </a:blip>
          <a:srcRect b="0" l="348" r="338" t="0"/>
          <a:stretch/>
        </p:blipFill>
        <p:spPr>
          <a:xfrm>
            <a:off x="609600" y="466075"/>
            <a:ext cx="10972801" cy="5776026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7"/>
          <p:cNvSpPr txBox="1"/>
          <p:nvPr/>
        </p:nvSpPr>
        <p:spPr>
          <a:xfrm>
            <a:off x="2729875" y="765700"/>
            <a:ext cx="8988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8"/>
          <p:cNvSpPr txBox="1"/>
          <p:nvPr>
            <p:ph idx="12" type="sldNum"/>
          </p:nvPr>
        </p:nvSpPr>
        <p:spPr>
          <a:xfrm>
            <a:off x="8610600" y="6545191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3" name="Google Shape;283;p28"/>
          <p:cNvPicPr preferRelativeResize="0"/>
          <p:nvPr/>
        </p:nvPicPr>
        <p:blipFill rotWithShape="1">
          <a:blip r:embed="rId3">
            <a:alphaModFix/>
          </a:blip>
          <a:srcRect b="0" l="0" r="715" t="0"/>
          <a:stretch/>
        </p:blipFill>
        <p:spPr>
          <a:xfrm>
            <a:off x="393275" y="441125"/>
            <a:ext cx="11325199" cy="597577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8"/>
          <p:cNvSpPr txBox="1"/>
          <p:nvPr/>
        </p:nvSpPr>
        <p:spPr>
          <a:xfrm>
            <a:off x="2729875" y="765700"/>
            <a:ext cx="8988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9"/>
          <p:cNvSpPr txBox="1"/>
          <p:nvPr>
            <p:ph idx="12" type="sldNum"/>
          </p:nvPr>
        </p:nvSpPr>
        <p:spPr>
          <a:xfrm>
            <a:off x="8610600" y="6545191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1" name="Google Shape;291;p29"/>
          <p:cNvPicPr preferRelativeResize="0"/>
          <p:nvPr/>
        </p:nvPicPr>
        <p:blipFill rotWithShape="1">
          <a:blip r:embed="rId3">
            <a:alphaModFix/>
          </a:blip>
          <a:srcRect b="0" l="816" r="826" t="10682"/>
          <a:stretch/>
        </p:blipFill>
        <p:spPr>
          <a:xfrm>
            <a:off x="609600" y="366200"/>
            <a:ext cx="10972800" cy="6125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"/>
          <p:cNvSpPr txBox="1"/>
          <p:nvPr>
            <p:ph idx="12" type="sldNum"/>
          </p:nvPr>
        </p:nvSpPr>
        <p:spPr>
          <a:xfrm>
            <a:off x="8610600" y="6545191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8" name="Google Shape;298;p30"/>
          <p:cNvPicPr preferRelativeResize="0"/>
          <p:nvPr/>
        </p:nvPicPr>
        <p:blipFill rotWithShape="1">
          <a:blip r:embed="rId3">
            <a:alphaModFix/>
          </a:blip>
          <a:srcRect b="0" l="0" r="0" t="12342"/>
          <a:stretch/>
        </p:blipFill>
        <p:spPr>
          <a:xfrm>
            <a:off x="955450" y="282975"/>
            <a:ext cx="10972800" cy="6011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1"/>
          <p:cNvSpPr txBox="1"/>
          <p:nvPr>
            <p:ph idx="12" type="sldNum"/>
          </p:nvPr>
        </p:nvSpPr>
        <p:spPr>
          <a:xfrm>
            <a:off x="8610600" y="6545191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5" name="Google Shape;305;p31"/>
          <p:cNvSpPr txBox="1"/>
          <p:nvPr/>
        </p:nvSpPr>
        <p:spPr>
          <a:xfrm>
            <a:off x="2729875" y="765700"/>
            <a:ext cx="8988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medical application&#10;&#10;Description automatically generated" id="306" name="Google Shape;30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2192000" cy="60388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1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2"/>
          <p:cNvSpPr txBox="1"/>
          <p:nvPr>
            <p:ph idx="12" type="sldNum"/>
          </p:nvPr>
        </p:nvSpPr>
        <p:spPr>
          <a:xfrm>
            <a:off x="8610600" y="6545191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4" name="Google Shape;314;p32"/>
          <p:cNvSpPr txBox="1"/>
          <p:nvPr/>
        </p:nvSpPr>
        <p:spPr>
          <a:xfrm>
            <a:off x="827781" y="573800"/>
            <a:ext cx="165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Bran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5008B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